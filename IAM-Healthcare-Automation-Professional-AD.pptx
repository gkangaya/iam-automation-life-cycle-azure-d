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8" r:id="rId2"/>
    <p:sldId id="256" r:id="rId3"/>
    <p:sldId id="257" r:id="rId4"/>
    <p:sldId id="258" r:id="rId5"/>
    <p:sldId id="260" r:id="rId6"/>
    <p:sldId id="262" r:id="rId7"/>
    <p:sldId id="263" r:id="rId8"/>
    <p:sldId id="259" r:id="rId9"/>
    <p:sldId id="261"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87" autoAdjust="0"/>
  </p:normalViewPr>
  <p:slideViewPr>
    <p:cSldViewPr snapToGrid="0">
      <p:cViewPr varScale="1">
        <p:scale>
          <a:sx n="61" d="100"/>
          <a:sy n="61" d="100"/>
        </p:scale>
        <p:origin x="149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0E9DBE-3662-4895-B281-A721E3F5222D}" type="datetimeFigureOut">
              <a:rPr lang="en-US" smtClean="0"/>
              <a:t>6/15/2026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ADF99C-AF7E-4688-B727-7B33BD5CCDA3}" type="slidenum">
              <a:rPr lang="en-US" smtClean="0"/>
              <a:t>‹#›</a:t>
            </a:fld>
            <a:endParaRPr lang="en-US"/>
          </a:p>
        </p:txBody>
      </p:sp>
    </p:spTree>
    <p:extLst>
      <p:ext uri="{BB962C8B-B14F-4D97-AF65-F5344CB8AC3E}">
        <p14:creationId xmlns:p14="http://schemas.microsoft.com/office/powerpoint/2010/main" val="2491075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Speech1: “Bonjour et merci de </a:t>
            </a:r>
            <a:r>
              <a:rPr lang="en-US" dirty="0" err="1"/>
              <a:t>votre</a:t>
            </a:r>
            <a:r>
              <a:rPr lang="en-US" dirty="0"/>
              <a:t> </a:t>
            </a:r>
            <a:r>
              <a:rPr lang="en-US" dirty="0" err="1"/>
              <a:t>présence</a:t>
            </a:r>
            <a:r>
              <a:rPr lang="en-US" dirty="0"/>
              <a:t>. Suite à </a:t>
            </a:r>
            <a:r>
              <a:rPr lang="en-US" dirty="0" err="1"/>
              <a:t>votre</a:t>
            </a:r>
            <a:r>
              <a:rPr lang="en-US" dirty="0"/>
              <a:t> </a:t>
            </a:r>
            <a:r>
              <a:rPr lang="en-US" dirty="0" err="1"/>
              <a:t>besoin</a:t>
            </a:r>
            <a:r>
              <a:rPr lang="en-US" dirty="0"/>
              <a:t> </a:t>
            </a:r>
            <a:r>
              <a:rPr lang="en-US" dirty="0" err="1"/>
              <a:t>concernant</a:t>
            </a:r>
            <a:r>
              <a:rPr lang="en-US" dirty="0"/>
              <a:t> </a:t>
            </a:r>
            <a:r>
              <a:rPr lang="en-US" dirty="0" err="1"/>
              <a:t>l'automatisation</a:t>
            </a:r>
            <a:r>
              <a:rPr lang="en-US" dirty="0"/>
              <a:t> de la gestion des </a:t>
            </a:r>
            <a:r>
              <a:rPr lang="en-US" dirty="0" err="1"/>
              <a:t>identités</a:t>
            </a:r>
            <a:r>
              <a:rPr lang="en-US" dirty="0"/>
              <a:t> et des </a:t>
            </a:r>
            <a:r>
              <a:rPr lang="en-US" dirty="0" err="1"/>
              <a:t>accès</a:t>
            </a:r>
            <a:r>
              <a:rPr lang="en-US" dirty="0"/>
              <a:t>, </a:t>
            </a:r>
            <a:r>
              <a:rPr lang="en-US" dirty="0" err="1"/>
              <a:t>j'ai</a:t>
            </a:r>
            <a:r>
              <a:rPr lang="en-US" dirty="0"/>
              <a:t> </a:t>
            </a:r>
            <a:r>
              <a:rPr lang="en-US" dirty="0" err="1"/>
              <a:t>réalisé</a:t>
            </a:r>
            <a:r>
              <a:rPr lang="en-US" dirty="0"/>
              <a:t> </a:t>
            </a:r>
            <a:r>
              <a:rPr lang="en-US" dirty="0" err="1"/>
              <a:t>cette</a:t>
            </a:r>
            <a:r>
              <a:rPr lang="en-US" dirty="0"/>
              <a:t> </a:t>
            </a:r>
            <a:r>
              <a:rPr lang="en-US" dirty="0" err="1"/>
              <a:t>preuve</a:t>
            </a:r>
            <a:r>
              <a:rPr lang="en-US" dirty="0"/>
              <a:t> de concept </a:t>
            </a:r>
            <a:r>
              <a:rPr lang="en-US" dirty="0" err="1"/>
              <a:t>intitulée</a:t>
            </a:r>
            <a:r>
              <a:rPr lang="en-US" dirty="0"/>
              <a:t> « </a:t>
            </a:r>
            <a:r>
              <a:rPr lang="en-US" dirty="0" err="1"/>
              <a:t>Automatisation</a:t>
            </a:r>
            <a:r>
              <a:rPr lang="en-US" dirty="0"/>
              <a:t> du cycle de vie des </a:t>
            </a:r>
            <a:r>
              <a:rPr lang="en-US" dirty="0" err="1"/>
              <a:t>identités</a:t>
            </a:r>
            <a:r>
              <a:rPr lang="en-US" dirty="0"/>
              <a:t> ». </a:t>
            </a:r>
            <a:br>
              <a:rPr lang="en-US" dirty="0"/>
            </a:br>
            <a:br>
              <a:rPr lang="en-US" dirty="0"/>
            </a:br>
            <a:r>
              <a:rPr lang="en-US" dirty="0" err="1"/>
              <a:t>L'objectif</a:t>
            </a:r>
            <a:r>
              <a:rPr lang="en-US" dirty="0"/>
              <a:t> principal est de </a:t>
            </a:r>
            <a:r>
              <a:rPr lang="en-US" dirty="0" err="1"/>
              <a:t>démontrer</a:t>
            </a:r>
            <a:r>
              <a:rPr lang="en-US" dirty="0"/>
              <a:t> comment il est possible </a:t>
            </a:r>
            <a:r>
              <a:rPr lang="en-US" dirty="0" err="1"/>
              <a:t>d'automatiser</a:t>
            </a:r>
            <a:r>
              <a:rPr lang="en-US" dirty="0"/>
              <a:t> </a:t>
            </a:r>
            <a:r>
              <a:rPr lang="en-US" dirty="0" err="1"/>
              <a:t>l'arrivée</a:t>
            </a:r>
            <a:r>
              <a:rPr lang="en-US" dirty="0"/>
              <a:t>, les changements de poste et le </a:t>
            </a:r>
            <a:r>
              <a:rPr lang="en-US" dirty="0" err="1"/>
              <a:t>départ</a:t>
            </a:r>
            <a:r>
              <a:rPr lang="en-US" dirty="0"/>
              <a:t> des </a:t>
            </a:r>
            <a:r>
              <a:rPr lang="en-US" dirty="0" err="1"/>
              <a:t>employés</a:t>
            </a:r>
            <a:r>
              <a:rPr lang="en-US" dirty="0"/>
              <a:t> tout </a:t>
            </a:r>
            <a:r>
              <a:rPr lang="en-US" dirty="0" err="1"/>
              <a:t>en</a:t>
            </a:r>
            <a:r>
              <a:rPr lang="en-US" dirty="0"/>
              <a:t> </a:t>
            </a:r>
            <a:r>
              <a:rPr lang="en-US" dirty="0" err="1"/>
              <a:t>appliquant</a:t>
            </a:r>
            <a:r>
              <a:rPr lang="en-US" dirty="0"/>
              <a:t> les principes de sécurité, de </a:t>
            </a:r>
            <a:r>
              <a:rPr lang="en-US" dirty="0" err="1"/>
              <a:t>gouvernance</a:t>
            </a:r>
            <a:r>
              <a:rPr lang="en-US" dirty="0"/>
              <a:t>, de </a:t>
            </a:r>
            <a:r>
              <a:rPr lang="en-US" dirty="0" err="1"/>
              <a:t>contrôle</a:t>
            </a:r>
            <a:r>
              <a:rPr lang="en-US" dirty="0"/>
              <a:t> </a:t>
            </a:r>
            <a:r>
              <a:rPr lang="en-US" dirty="0" err="1"/>
              <a:t>d'accès</a:t>
            </a:r>
            <a:r>
              <a:rPr lang="en-US" dirty="0"/>
              <a:t> </a:t>
            </a:r>
            <a:r>
              <a:rPr lang="en-US" dirty="0" err="1"/>
              <a:t>basé</a:t>
            </a:r>
            <a:r>
              <a:rPr lang="en-US" dirty="0"/>
              <a:t> sur les </a:t>
            </a:r>
            <a:r>
              <a:rPr lang="en-US" dirty="0" err="1"/>
              <a:t>rôles</a:t>
            </a:r>
            <a:r>
              <a:rPr lang="en-US" dirty="0"/>
              <a:t> et de </a:t>
            </a:r>
            <a:r>
              <a:rPr lang="en-US" dirty="0" err="1"/>
              <a:t>traçabilité</a:t>
            </a:r>
            <a:r>
              <a:rPr lang="en-US" dirty="0"/>
              <a:t>.”</a:t>
            </a:r>
            <a:br>
              <a:rPr lang="en-US" dirty="0"/>
            </a:br>
            <a:br>
              <a:rPr lang="en-US" dirty="0"/>
            </a:br>
            <a:br>
              <a:rPr lang="en-US" dirty="0"/>
            </a:br>
            <a:br>
              <a:rPr lang="en-US" dirty="0"/>
            </a:br>
            <a:br>
              <a:rPr lang="en-US" dirty="0"/>
            </a:br>
            <a:r>
              <a:rPr lang="en-US" dirty="0"/>
              <a:t>Speech2: “Le </a:t>
            </a:r>
            <a:r>
              <a:rPr lang="en-US" dirty="0" err="1"/>
              <a:t>projet</a:t>
            </a:r>
            <a:r>
              <a:rPr lang="en-US" dirty="0"/>
              <a:t> </a:t>
            </a:r>
            <a:r>
              <a:rPr lang="en-US" dirty="0" err="1"/>
              <a:t>répond</a:t>
            </a:r>
            <a:r>
              <a:rPr lang="en-US" dirty="0"/>
              <a:t> à un </a:t>
            </a:r>
            <a:r>
              <a:rPr lang="en-US" dirty="0" err="1"/>
              <a:t>problème</a:t>
            </a:r>
            <a:r>
              <a:rPr lang="en-US" dirty="0"/>
              <a:t> </a:t>
            </a:r>
            <a:r>
              <a:rPr lang="en-US" dirty="0" err="1"/>
              <a:t>fréquent</a:t>
            </a:r>
            <a:r>
              <a:rPr lang="en-US" dirty="0"/>
              <a:t> dans les </a:t>
            </a:r>
            <a:r>
              <a:rPr lang="en-US" dirty="0" err="1"/>
              <a:t>établissements</a:t>
            </a:r>
            <a:r>
              <a:rPr lang="en-US" dirty="0"/>
              <a:t> de santé : la gestion du cycle de vie des </a:t>
            </a:r>
            <a:r>
              <a:rPr lang="en-US" dirty="0" err="1"/>
              <a:t>employés</a:t>
            </a:r>
            <a:r>
              <a:rPr lang="en-US" dirty="0"/>
              <a:t> et des </a:t>
            </a:r>
            <a:r>
              <a:rPr lang="en-US" dirty="0" err="1"/>
              <a:t>accès</a:t>
            </a:r>
            <a:r>
              <a:rPr lang="en-US" dirty="0"/>
              <a:t> </a:t>
            </a:r>
            <a:r>
              <a:rPr lang="en-US" dirty="0" err="1"/>
              <a:t>associés</a:t>
            </a:r>
            <a:r>
              <a:rPr lang="en-US" dirty="0"/>
              <a:t>. </a:t>
            </a:r>
            <a:r>
              <a:rPr lang="en-US" dirty="0" err="1"/>
              <a:t>L'objectif</a:t>
            </a:r>
            <a:r>
              <a:rPr lang="en-US" dirty="0"/>
              <a:t> est </a:t>
            </a:r>
            <a:r>
              <a:rPr lang="en-US" dirty="0" err="1"/>
              <a:t>d'automatiser</a:t>
            </a:r>
            <a:r>
              <a:rPr lang="en-US" dirty="0"/>
              <a:t> </a:t>
            </a:r>
            <a:r>
              <a:rPr lang="en-US" dirty="0" err="1"/>
              <a:t>l'arrivée</a:t>
            </a:r>
            <a:r>
              <a:rPr lang="en-US" dirty="0"/>
              <a:t>, les changements de poste et le </a:t>
            </a:r>
            <a:r>
              <a:rPr lang="en-US" dirty="0" err="1"/>
              <a:t>départ</a:t>
            </a:r>
            <a:r>
              <a:rPr lang="en-US" dirty="0"/>
              <a:t> des </a:t>
            </a:r>
            <a:r>
              <a:rPr lang="en-US" dirty="0" err="1"/>
              <a:t>employés</a:t>
            </a:r>
            <a:r>
              <a:rPr lang="en-US" dirty="0"/>
              <a:t> tout </a:t>
            </a:r>
            <a:r>
              <a:rPr lang="en-US" dirty="0" err="1"/>
              <a:t>en</a:t>
            </a:r>
            <a:r>
              <a:rPr lang="en-US" dirty="0"/>
              <a:t> </a:t>
            </a:r>
            <a:r>
              <a:rPr lang="en-US" dirty="0" err="1"/>
              <a:t>appliquant</a:t>
            </a:r>
            <a:r>
              <a:rPr lang="en-US" dirty="0"/>
              <a:t> les principes de sécurité, de </a:t>
            </a:r>
            <a:r>
              <a:rPr lang="en-US" dirty="0" err="1"/>
              <a:t>gouvernance</a:t>
            </a:r>
            <a:r>
              <a:rPr lang="en-US" dirty="0"/>
              <a:t> et de </a:t>
            </a:r>
            <a:r>
              <a:rPr lang="en-US" dirty="0" err="1"/>
              <a:t>traçabilité</a:t>
            </a:r>
            <a:r>
              <a:rPr lang="en-US" dirty="0"/>
              <a:t>.</a:t>
            </a:r>
            <a:br>
              <a:rPr lang="en-US" dirty="0"/>
            </a:br>
            <a:br>
              <a:rPr lang="en-US" dirty="0"/>
            </a:br>
            <a:r>
              <a:rPr lang="en-US" dirty="0"/>
              <a:t>Pour </a:t>
            </a:r>
            <a:r>
              <a:rPr lang="en-US" dirty="0" err="1"/>
              <a:t>réaliser</a:t>
            </a:r>
            <a:r>
              <a:rPr lang="en-US" dirty="0"/>
              <a:t> </a:t>
            </a:r>
            <a:r>
              <a:rPr lang="en-US" dirty="0" err="1"/>
              <a:t>cette</a:t>
            </a:r>
            <a:r>
              <a:rPr lang="en-US" dirty="0"/>
              <a:t> </a:t>
            </a:r>
            <a:r>
              <a:rPr lang="en-US" dirty="0" err="1"/>
              <a:t>preuve</a:t>
            </a:r>
            <a:r>
              <a:rPr lang="en-US" dirty="0"/>
              <a:t> de concept, </a:t>
            </a:r>
            <a:r>
              <a:rPr lang="en-US" dirty="0" err="1"/>
              <a:t>j'ai</a:t>
            </a:r>
            <a:r>
              <a:rPr lang="en-US" dirty="0"/>
              <a:t> </a:t>
            </a:r>
            <a:r>
              <a:rPr lang="en-US" dirty="0" err="1"/>
              <a:t>utilisé</a:t>
            </a:r>
            <a:r>
              <a:rPr lang="en-US" dirty="0"/>
              <a:t> PowerShell, Visual Studio Code, des </a:t>
            </a:r>
            <a:r>
              <a:rPr lang="en-US" dirty="0" err="1"/>
              <a:t>fichiers</a:t>
            </a:r>
            <a:r>
              <a:rPr lang="en-US" dirty="0"/>
              <a:t> CSV et un rapport HTML”</a:t>
            </a:r>
          </a:p>
        </p:txBody>
      </p:sp>
      <p:sp>
        <p:nvSpPr>
          <p:cNvPr id="4" name="Slide Number Placeholder 3"/>
          <p:cNvSpPr>
            <a:spLocks noGrp="1"/>
          </p:cNvSpPr>
          <p:nvPr>
            <p:ph type="sldNum" sz="quarter" idx="5"/>
          </p:nvPr>
        </p:nvSpPr>
        <p:spPr/>
        <p:txBody>
          <a:bodyPr/>
          <a:lstStyle/>
          <a:p>
            <a:fld id="{8CADF99C-AF7E-4688-B727-7B33BD5CCDA3}" type="slidenum">
              <a:rPr lang="en-US" smtClean="0"/>
              <a:t>1</a:t>
            </a:fld>
            <a:endParaRPr lang="en-US"/>
          </a:p>
        </p:txBody>
      </p:sp>
    </p:spTree>
    <p:extLst>
      <p:ext uri="{BB962C8B-B14F-4D97-AF65-F5344CB8AC3E}">
        <p14:creationId xmlns:p14="http://schemas.microsoft.com/office/powerpoint/2010/main" val="373943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2000" dirty="0"/>
              <a:t>Seepch1: “Dans les </a:t>
            </a:r>
            <a:r>
              <a:rPr lang="en-US" sz="2000" dirty="0" err="1"/>
              <a:t>établissements</a:t>
            </a:r>
            <a:r>
              <a:rPr lang="en-US" sz="2000" dirty="0"/>
              <a:t> de santé, des </a:t>
            </a:r>
            <a:r>
              <a:rPr lang="en-US" sz="2000" dirty="0" err="1"/>
              <a:t>centaines</a:t>
            </a:r>
            <a:r>
              <a:rPr lang="en-US" sz="2000" dirty="0"/>
              <a:t> </a:t>
            </a:r>
            <a:r>
              <a:rPr lang="en-US" sz="2000" dirty="0" err="1"/>
              <a:t>voire</a:t>
            </a:r>
            <a:r>
              <a:rPr lang="en-US" sz="2000" dirty="0"/>
              <a:t> des </a:t>
            </a:r>
            <a:r>
              <a:rPr lang="en-US" sz="2000" dirty="0" err="1"/>
              <a:t>milliers</a:t>
            </a:r>
            <a:r>
              <a:rPr lang="en-US" sz="2000" dirty="0"/>
              <a:t> </a:t>
            </a:r>
            <a:r>
              <a:rPr lang="en-US" sz="2000" dirty="0" err="1"/>
              <a:t>d'employés</a:t>
            </a:r>
            <a:r>
              <a:rPr lang="en-US" sz="2000" dirty="0"/>
              <a:t> </a:t>
            </a:r>
            <a:r>
              <a:rPr lang="en-US" sz="2000" dirty="0" err="1"/>
              <a:t>doivent</a:t>
            </a:r>
            <a:r>
              <a:rPr lang="en-US" sz="2000" dirty="0"/>
              <a:t> disposer des bons </a:t>
            </a:r>
            <a:r>
              <a:rPr lang="en-US" sz="2000" dirty="0" err="1"/>
              <a:t>accès</a:t>
            </a:r>
            <a:r>
              <a:rPr lang="en-US" sz="2000" dirty="0"/>
              <a:t> au bon moment. </a:t>
            </a:r>
            <a:br>
              <a:rPr lang="en-US" sz="2000" dirty="0"/>
            </a:br>
            <a:r>
              <a:rPr lang="en-US" sz="2000" dirty="0"/>
              <a:t>Une gestion </a:t>
            </a:r>
            <a:r>
              <a:rPr lang="en-US" sz="2000" dirty="0" err="1"/>
              <a:t>manuelle</a:t>
            </a:r>
            <a:r>
              <a:rPr lang="en-US" sz="2000" dirty="0"/>
              <a:t> des </a:t>
            </a:r>
            <a:r>
              <a:rPr lang="en-US" sz="2000" dirty="0" err="1"/>
              <a:t>comptes</a:t>
            </a:r>
            <a:r>
              <a:rPr lang="en-US" sz="2000" dirty="0"/>
              <a:t> </a:t>
            </a:r>
            <a:r>
              <a:rPr lang="en-US" sz="2000" dirty="0" err="1"/>
              <a:t>peut</a:t>
            </a:r>
            <a:r>
              <a:rPr lang="en-US" sz="2000" dirty="0"/>
              <a:t> </a:t>
            </a:r>
            <a:r>
              <a:rPr lang="en-US" sz="2000" dirty="0" err="1"/>
              <a:t>entraîner</a:t>
            </a:r>
            <a:r>
              <a:rPr lang="en-US" sz="2000" dirty="0"/>
              <a:t> des retards, des </a:t>
            </a:r>
            <a:r>
              <a:rPr lang="en-US" sz="2000" dirty="0" err="1"/>
              <a:t>erreurs</a:t>
            </a:r>
            <a:r>
              <a:rPr lang="en-US" sz="2000" dirty="0"/>
              <a:t>, des </a:t>
            </a:r>
            <a:r>
              <a:rPr lang="en-US" sz="2000" dirty="0" err="1"/>
              <a:t>privilèges</a:t>
            </a:r>
            <a:r>
              <a:rPr lang="en-US" sz="2000" dirty="0"/>
              <a:t> </a:t>
            </a:r>
            <a:r>
              <a:rPr lang="en-US" sz="2000" dirty="0" err="1"/>
              <a:t>excessifs</a:t>
            </a:r>
            <a:r>
              <a:rPr lang="en-US" sz="2000" dirty="0"/>
              <a:t> </a:t>
            </a:r>
            <a:r>
              <a:rPr lang="en-US" sz="2000" dirty="0" err="1"/>
              <a:t>ou</a:t>
            </a:r>
            <a:r>
              <a:rPr lang="en-US" sz="2000" dirty="0"/>
              <a:t> encore des </a:t>
            </a:r>
            <a:r>
              <a:rPr lang="en-US" sz="2000" dirty="0" err="1"/>
              <a:t>risques</a:t>
            </a:r>
            <a:r>
              <a:rPr lang="en-US" sz="2000" dirty="0"/>
              <a:t> de sécurité. </a:t>
            </a:r>
            <a:r>
              <a:rPr lang="en-US" sz="2000" dirty="0" err="1"/>
              <a:t>L'objectif</a:t>
            </a:r>
            <a:r>
              <a:rPr lang="en-US" sz="2000" dirty="0"/>
              <a:t> de </a:t>
            </a:r>
            <a:r>
              <a:rPr lang="en-US" sz="2000" dirty="0" err="1"/>
              <a:t>cette</a:t>
            </a:r>
            <a:r>
              <a:rPr lang="en-US" sz="2000" dirty="0"/>
              <a:t> solution est </a:t>
            </a:r>
            <a:r>
              <a:rPr lang="en-US" sz="2000" dirty="0" err="1"/>
              <a:t>donc</a:t>
            </a:r>
            <a:r>
              <a:rPr lang="en-US" sz="2000" dirty="0"/>
              <a:t> </a:t>
            </a:r>
            <a:r>
              <a:rPr lang="en-US" sz="2000" dirty="0" err="1"/>
              <a:t>d'améliorer</a:t>
            </a:r>
            <a:r>
              <a:rPr lang="en-US" sz="2000" dirty="0"/>
              <a:t> </a:t>
            </a:r>
            <a:r>
              <a:rPr lang="en-US" sz="2000" dirty="0" err="1"/>
              <a:t>l'efficacité</a:t>
            </a:r>
            <a:r>
              <a:rPr lang="en-US" sz="2000" dirty="0"/>
              <a:t> </a:t>
            </a:r>
            <a:r>
              <a:rPr lang="en-US" sz="2000" dirty="0" err="1"/>
              <a:t>opérationnelle</a:t>
            </a:r>
            <a:r>
              <a:rPr lang="en-US" sz="2000" dirty="0"/>
              <a:t> tout </a:t>
            </a:r>
            <a:r>
              <a:rPr lang="en-US" sz="2000" dirty="0" err="1"/>
              <a:t>en</a:t>
            </a:r>
            <a:r>
              <a:rPr lang="en-US" sz="2000" dirty="0"/>
              <a:t> </a:t>
            </a:r>
            <a:r>
              <a:rPr lang="en-US" sz="2000" dirty="0" err="1"/>
              <a:t>réduisant</a:t>
            </a:r>
            <a:r>
              <a:rPr lang="en-US" sz="2000" dirty="0"/>
              <a:t> </a:t>
            </a:r>
            <a:r>
              <a:rPr lang="en-US" sz="2000" dirty="0" err="1"/>
              <a:t>ces</a:t>
            </a:r>
            <a:r>
              <a:rPr lang="en-US" sz="2000" dirty="0"/>
              <a:t> </a:t>
            </a:r>
            <a:r>
              <a:rPr lang="en-US" sz="2000" dirty="0" err="1"/>
              <a:t>risques</a:t>
            </a:r>
            <a:r>
              <a:rPr lang="en-US" sz="2000" dirty="0"/>
              <a:t>.”</a:t>
            </a:r>
            <a:br>
              <a:rPr lang="en-US" sz="2000" dirty="0"/>
            </a:br>
            <a:br>
              <a:rPr lang="en-US" sz="2000" dirty="0"/>
            </a:br>
            <a:br>
              <a:rPr lang="en-US" sz="2000" dirty="0"/>
            </a:br>
            <a:br>
              <a:rPr lang="en-US" sz="2000" dirty="0"/>
            </a:br>
            <a:br>
              <a:rPr lang="en-US" sz="2000" dirty="0"/>
            </a:br>
            <a:r>
              <a:rPr lang="en-US" sz="2000" dirty="0"/>
              <a:t>Speech2: “Les </a:t>
            </a:r>
            <a:r>
              <a:rPr lang="en-US" sz="2000" dirty="0" err="1"/>
              <a:t>établissements</a:t>
            </a:r>
            <a:r>
              <a:rPr lang="en-US" sz="2000" dirty="0"/>
              <a:t> de santé </a:t>
            </a:r>
            <a:r>
              <a:rPr lang="en-US" sz="2000" dirty="0" err="1"/>
              <a:t>gèrent</a:t>
            </a:r>
            <a:r>
              <a:rPr lang="en-US" sz="2000" dirty="0"/>
              <a:t> des </a:t>
            </a:r>
            <a:r>
              <a:rPr lang="en-US" sz="2000" dirty="0" err="1"/>
              <a:t>centaines</a:t>
            </a:r>
            <a:r>
              <a:rPr lang="en-US" sz="2000" dirty="0"/>
              <a:t> </a:t>
            </a:r>
            <a:r>
              <a:rPr lang="en-US" sz="2000" dirty="0" err="1"/>
              <a:t>voire</a:t>
            </a:r>
            <a:r>
              <a:rPr lang="en-US" sz="2000" dirty="0"/>
              <a:t> des </a:t>
            </a:r>
            <a:r>
              <a:rPr lang="en-US" sz="2000" dirty="0" err="1"/>
              <a:t>milliers</a:t>
            </a:r>
            <a:r>
              <a:rPr lang="en-US" sz="2000" dirty="0"/>
              <a:t> </a:t>
            </a:r>
            <a:r>
              <a:rPr lang="en-US" sz="2000" dirty="0" err="1"/>
              <a:t>d'employés</a:t>
            </a:r>
            <a:r>
              <a:rPr lang="en-US" sz="2000" dirty="0"/>
              <a:t>. La </a:t>
            </a:r>
            <a:r>
              <a:rPr lang="en-US" sz="2000" dirty="0" err="1"/>
              <a:t>création</a:t>
            </a:r>
            <a:r>
              <a:rPr lang="en-US" sz="2000" dirty="0"/>
              <a:t> </a:t>
            </a:r>
            <a:r>
              <a:rPr lang="en-US" sz="2000" dirty="0" err="1"/>
              <a:t>manuelle</a:t>
            </a:r>
            <a:r>
              <a:rPr lang="en-US" sz="2000" dirty="0"/>
              <a:t> des </a:t>
            </a:r>
            <a:r>
              <a:rPr lang="en-US" sz="2000" dirty="0" err="1"/>
              <a:t>comptes</a:t>
            </a:r>
            <a:r>
              <a:rPr lang="en-US" sz="2000" dirty="0"/>
              <a:t> </a:t>
            </a:r>
            <a:r>
              <a:rPr lang="en-US" sz="2000" dirty="0" err="1"/>
              <a:t>peut</a:t>
            </a:r>
            <a:r>
              <a:rPr lang="en-US" sz="2000" dirty="0"/>
              <a:t> </a:t>
            </a:r>
            <a:r>
              <a:rPr lang="en-US" sz="2000" dirty="0" err="1"/>
              <a:t>entraîner</a:t>
            </a:r>
            <a:r>
              <a:rPr lang="en-US" sz="2000" dirty="0"/>
              <a:t> des retards, des </a:t>
            </a:r>
            <a:r>
              <a:rPr lang="en-US" sz="2000" dirty="0" err="1"/>
              <a:t>erreurs</a:t>
            </a:r>
            <a:r>
              <a:rPr lang="en-US" sz="2000" dirty="0"/>
              <a:t> </a:t>
            </a:r>
            <a:r>
              <a:rPr lang="en-US" sz="2000" dirty="0" err="1"/>
              <a:t>ou</a:t>
            </a:r>
            <a:r>
              <a:rPr lang="en-US" sz="2000" dirty="0"/>
              <a:t> des </a:t>
            </a:r>
            <a:r>
              <a:rPr lang="en-US" sz="2000" dirty="0" err="1"/>
              <a:t>risques</a:t>
            </a:r>
            <a:r>
              <a:rPr lang="en-US" sz="2000" dirty="0"/>
              <a:t> de sécurité. Notre </a:t>
            </a:r>
            <a:r>
              <a:rPr lang="en-US" sz="2000" dirty="0" err="1"/>
              <a:t>objectif</a:t>
            </a:r>
            <a:r>
              <a:rPr lang="en-US" sz="2000" dirty="0"/>
              <a:t> est </a:t>
            </a:r>
            <a:r>
              <a:rPr lang="en-US" sz="2000" dirty="0" err="1"/>
              <a:t>d'automatiser</a:t>
            </a:r>
            <a:r>
              <a:rPr lang="en-US" sz="2000" dirty="0"/>
              <a:t> </a:t>
            </a:r>
            <a:r>
              <a:rPr lang="en-US" sz="2000" dirty="0" err="1"/>
              <a:t>ces</a:t>
            </a:r>
            <a:r>
              <a:rPr lang="en-US" sz="2000" dirty="0"/>
              <a:t> processus </a:t>
            </a:r>
            <a:r>
              <a:rPr lang="en-US" sz="2000" dirty="0" err="1"/>
              <a:t>afin</a:t>
            </a:r>
            <a:r>
              <a:rPr lang="en-US" sz="2000" dirty="0"/>
              <a:t> de </a:t>
            </a:r>
            <a:r>
              <a:rPr lang="en-US" sz="2000" dirty="0" err="1"/>
              <a:t>réduire</a:t>
            </a:r>
            <a:r>
              <a:rPr lang="en-US" sz="2000" dirty="0"/>
              <a:t> les </a:t>
            </a:r>
            <a:r>
              <a:rPr lang="en-US" sz="2000" dirty="0" err="1"/>
              <a:t>risques</a:t>
            </a:r>
            <a:r>
              <a:rPr lang="en-US" sz="2000" dirty="0"/>
              <a:t> et </a:t>
            </a:r>
            <a:r>
              <a:rPr lang="en-US" sz="2000" dirty="0" err="1"/>
              <a:t>améliorer</a:t>
            </a:r>
            <a:r>
              <a:rPr lang="en-US" sz="2000" dirty="0"/>
              <a:t> </a:t>
            </a:r>
            <a:r>
              <a:rPr lang="en-US" sz="2000" dirty="0" err="1"/>
              <a:t>l'efficacité</a:t>
            </a:r>
            <a:r>
              <a:rPr lang="en-US" sz="2000" dirty="0"/>
              <a:t> </a:t>
            </a:r>
            <a:r>
              <a:rPr lang="en-US" sz="2000" dirty="0" err="1"/>
              <a:t>opérationnelle</a:t>
            </a:r>
            <a:r>
              <a:rPr lang="en-US" sz="2000" dirty="0"/>
              <a:t>.”</a:t>
            </a:r>
          </a:p>
          <a:p>
            <a:endParaRPr lang="en-US" dirty="0"/>
          </a:p>
        </p:txBody>
      </p:sp>
      <p:sp>
        <p:nvSpPr>
          <p:cNvPr id="4" name="Slide Number Placeholder 3"/>
          <p:cNvSpPr>
            <a:spLocks noGrp="1"/>
          </p:cNvSpPr>
          <p:nvPr>
            <p:ph type="sldNum" sz="quarter" idx="5"/>
          </p:nvPr>
        </p:nvSpPr>
        <p:spPr/>
        <p:txBody>
          <a:bodyPr/>
          <a:lstStyle/>
          <a:p>
            <a:fld id="{8CADF99C-AF7E-4688-B727-7B33BD5CCDA3}" type="slidenum">
              <a:rPr lang="en-US" smtClean="0"/>
              <a:t>2</a:t>
            </a:fld>
            <a:endParaRPr lang="en-US"/>
          </a:p>
        </p:txBody>
      </p:sp>
    </p:spTree>
    <p:extLst>
      <p:ext uri="{BB962C8B-B14F-4D97-AF65-F5344CB8AC3E}">
        <p14:creationId xmlns:p14="http://schemas.microsoft.com/office/powerpoint/2010/main" val="3422279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Speech1: « </a:t>
            </a:r>
            <a:r>
              <a:rPr lang="en-US" dirty="0"/>
              <a:t>Le processus commence avec les </a:t>
            </a:r>
            <a:r>
              <a:rPr lang="en-US" dirty="0" err="1"/>
              <a:t>informations</a:t>
            </a:r>
            <a:r>
              <a:rPr lang="en-US" dirty="0"/>
              <a:t> </a:t>
            </a:r>
            <a:r>
              <a:rPr lang="en-US" dirty="0" err="1"/>
              <a:t>fournies</a:t>
            </a:r>
            <a:r>
              <a:rPr lang="en-US" dirty="0"/>
              <a:t> par les </a:t>
            </a:r>
            <a:r>
              <a:rPr lang="en-US" dirty="0" err="1"/>
              <a:t>ressources</a:t>
            </a:r>
            <a:r>
              <a:rPr lang="en-US" dirty="0"/>
              <a:t> </a:t>
            </a:r>
            <a:r>
              <a:rPr lang="en-US" dirty="0" err="1"/>
              <a:t>humaines</a:t>
            </a:r>
            <a:r>
              <a:rPr lang="en-US" dirty="0"/>
              <a:t>. </a:t>
            </a:r>
            <a:r>
              <a:rPr lang="en-US" dirty="0" err="1"/>
              <a:t>Ces</a:t>
            </a:r>
            <a:r>
              <a:rPr lang="en-US" dirty="0"/>
              <a:t> </a:t>
            </a:r>
            <a:r>
              <a:rPr lang="en-US" dirty="0" err="1"/>
              <a:t>informations</a:t>
            </a:r>
            <a:r>
              <a:rPr lang="en-US" dirty="0"/>
              <a:t> </a:t>
            </a:r>
            <a:r>
              <a:rPr lang="en-US" dirty="0" err="1"/>
              <a:t>sont</a:t>
            </a:r>
            <a:r>
              <a:rPr lang="en-US" dirty="0"/>
              <a:t> ensuite </a:t>
            </a:r>
            <a:r>
              <a:rPr lang="en-US" dirty="0" err="1"/>
              <a:t>validées</a:t>
            </a:r>
            <a:r>
              <a:rPr lang="en-US" dirty="0"/>
              <a:t>. Le </a:t>
            </a:r>
            <a:r>
              <a:rPr lang="en-US" dirty="0" err="1"/>
              <a:t>moteur</a:t>
            </a:r>
            <a:r>
              <a:rPr lang="en-US" dirty="0"/>
              <a:t> IAM applique ensuite les </a:t>
            </a:r>
            <a:r>
              <a:rPr lang="en-US" dirty="0" err="1"/>
              <a:t>règles</a:t>
            </a:r>
            <a:r>
              <a:rPr lang="en-US" dirty="0"/>
              <a:t> de sécurité et les </a:t>
            </a:r>
            <a:r>
              <a:rPr lang="en-US" dirty="0" err="1"/>
              <a:t>règles</a:t>
            </a:r>
            <a:r>
              <a:rPr lang="en-US" dirty="0"/>
              <a:t> RBAC </a:t>
            </a:r>
            <a:r>
              <a:rPr lang="en-US" dirty="0" err="1"/>
              <a:t>afin</a:t>
            </a:r>
            <a:r>
              <a:rPr lang="en-US" dirty="0"/>
              <a:t> </a:t>
            </a:r>
            <a:r>
              <a:rPr lang="en-US" dirty="0" err="1"/>
              <a:t>d'attribuer</a:t>
            </a:r>
            <a:r>
              <a:rPr lang="en-US" dirty="0"/>
              <a:t> les </a:t>
            </a:r>
            <a:r>
              <a:rPr lang="en-US" dirty="0" err="1"/>
              <a:t>accès</a:t>
            </a:r>
            <a:r>
              <a:rPr lang="en-US" dirty="0"/>
              <a:t> </a:t>
            </a:r>
            <a:r>
              <a:rPr lang="en-US" dirty="0" err="1"/>
              <a:t>appropriés</a:t>
            </a:r>
            <a:r>
              <a:rPr lang="en-US" dirty="0"/>
              <a:t>. </a:t>
            </a:r>
            <a:r>
              <a:rPr lang="en-US" dirty="0" err="1"/>
              <a:t>Toutes</a:t>
            </a:r>
            <a:r>
              <a:rPr lang="en-US" dirty="0"/>
              <a:t> les actions </a:t>
            </a:r>
            <a:r>
              <a:rPr lang="en-US" dirty="0" err="1"/>
              <a:t>sont</a:t>
            </a:r>
            <a:r>
              <a:rPr lang="en-US" dirty="0"/>
              <a:t> </a:t>
            </a:r>
            <a:r>
              <a:rPr lang="en-US" dirty="0" err="1"/>
              <a:t>enregistrées</a:t>
            </a:r>
            <a:r>
              <a:rPr lang="en-US" dirty="0"/>
              <a:t> dans les </a:t>
            </a:r>
            <a:r>
              <a:rPr lang="en-US" dirty="0" err="1"/>
              <a:t>journaux</a:t>
            </a:r>
            <a:r>
              <a:rPr lang="en-US" dirty="0"/>
              <a:t> </a:t>
            </a:r>
            <a:r>
              <a:rPr lang="en-US" dirty="0" err="1"/>
              <a:t>d'audit</a:t>
            </a:r>
            <a:r>
              <a:rPr lang="en-US" dirty="0"/>
              <a:t> et un rapport est </a:t>
            </a:r>
            <a:r>
              <a:rPr lang="en-US" dirty="0" err="1"/>
              <a:t>généré</a:t>
            </a:r>
            <a:r>
              <a:rPr lang="en-US" dirty="0"/>
              <a:t> </a:t>
            </a:r>
            <a:r>
              <a:rPr lang="en-US" dirty="0" err="1"/>
              <a:t>afin</a:t>
            </a:r>
            <a:r>
              <a:rPr lang="en-US" dirty="0"/>
              <a:t> de </a:t>
            </a:r>
            <a:r>
              <a:rPr lang="en-US" dirty="0" err="1"/>
              <a:t>garantir</a:t>
            </a:r>
            <a:r>
              <a:rPr lang="en-US" dirty="0"/>
              <a:t> la </a:t>
            </a:r>
            <a:r>
              <a:rPr lang="en-US" dirty="0" err="1"/>
              <a:t>traçabilité</a:t>
            </a:r>
            <a:r>
              <a:rPr lang="en-US" dirty="0"/>
              <a:t> et la </a:t>
            </a:r>
            <a:r>
              <a:rPr lang="en-US" dirty="0" err="1"/>
              <a:t>conformité</a:t>
            </a:r>
            <a:r>
              <a:rPr lang="en-US" dirty="0"/>
              <a:t>.</a:t>
            </a:r>
            <a:r>
              <a:rPr lang="fr-CA" dirty="0"/>
              <a:t>»</a:t>
            </a:r>
            <a:br>
              <a:rPr lang="fr-CA" dirty="0"/>
            </a:br>
            <a:br>
              <a:rPr lang="fr-CA" dirty="0"/>
            </a:br>
            <a:br>
              <a:rPr lang="fr-CA" dirty="0"/>
            </a:br>
            <a:br>
              <a:rPr lang="fr-CA" dirty="0"/>
            </a:br>
            <a:br>
              <a:rPr lang="fr-CA" dirty="0"/>
            </a:br>
            <a:r>
              <a:rPr lang="fr-CA" dirty="0"/>
              <a:t>Speech2: « Processus de fonctionnement de la solution</a:t>
            </a:r>
            <a:br>
              <a:rPr lang="fr-CA" dirty="0"/>
            </a:br>
            <a:r>
              <a:rPr lang="fr-CA" dirty="0"/>
              <a:t>RH: saisie des données</a:t>
            </a:r>
            <a:br>
              <a:rPr lang="fr-CA" dirty="0"/>
            </a:br>
            <a:r>
              <a:rPr lang="fr-CA" dirty="0"/>
              <a:t>Validation: les contrôles de gouvernances </a:t>
            </a:r>
            <a:br>
              <a:rPr lang="fr-CA" dirty="0"/>
            </a:br>
            <a:r>
              <a:rPr lang="fr-CA" dirty="0"/>
              <a:t>IAM Engine: moteur der gestion des Accès et des identités </a:t>
            </a:r>
            <a:br>
              <a:rPr lang="fr-CA" dirty="0"/>
            </a:br>
            <a:r>
              <a:rPr lang="fr-CA" dirty="0"/>
              <a:t>RBAC: contrôles d'accès basé sur les rôles</a:t>
            </a:r>
            <a:br>
              <a:rPr lang="fr-CA" dirty="0"/>
            </a:br>
            <a:r>
              <a:rPr lang="fr-CA" dirty="0"/>
              <a:t>Journal des audits</a:t>
            </a:r>
            <a:br>
              <a:rPr lang="fr-CA" dirty="0"/>
            </a:br>
            <a:r>
              <a:rPr lang="fr-CA" dirty="0"/>
              <a:t>Rapport de visualisation des actions entreprises »</a:t>
            </a:r>
            <a:endParaRPr lang="en-US" dirty="0"/>
          </a:p>
        </p:txBody>
      </p:sp>
      <p:sp>
        <p:nvSpPr>
          <p:cNvPr id="4" name="Slide Number Placeholder 3"/>
          <p:cNvSpPr>
            <a:spLocks noGrp="1"/>
          </p:cNvSpPr>
          <p:nvPr>
            <p:ph type="sldNum" sz="quarter" idx="5"/>
          </p:nvPr>
        </p:nvSpPr>
        <p:spPr/>
        <p:txBody>
          <a:bodyPr/>
          <a:lstStyle/>
          <a:p>
            <a:fld id="{8CADF99C-AF7E-4688-B727-7B33BD5CCDA3}" type="slidenum">
              <a:rPr lang="en-US" smtClean="0"/>
              <a:t>3</a:t>
            </a:fld>
            <a:endParaRPr lang="en-US"/>
          </a:p>
        </p:txBody>
      </p:sp>
    </p:spTree>
    <p:extLst>
      <p:ext uri="{BB962C8B-B14F-4D97-AF65-F5344CB8AC3E}">
        <p14:creationId xmlns:p14="http://schemas.microsoft.com/office/powerpoint/2010/main" val="2013323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Speech1: « </a:t>
            </a:r>
            <a:br>
              <a:rPr lang="fr-CA" dirty="0"/>
            </a:br>
            <a:br>
              <a:rPr lang="fr-CA" dirty="0"/>
            </a:br>
            <a:r>
              <a:rPr lang="fr-CA" dirty="0"/>
              <a:t>1-</a:t>
            </a:r>
            <a:r>
              <a:rPr lang="en-US" dirty="0"/>
              <a:t>les données </a:t>
            </a:r>
            <a:r>
              <a:rPr lang="en-US" dirty="0" err="1"/>
              <a:t>provenant</a:t>
            </a:r>
            <a:r>
              <a:rPr lang="en-US" dirty="0"/>
              <a:t> du </a:t>
            </a:r>
            <a:r>
              <a:rPr lang="en-US" dirty="0" err="1"/>
              <a:t>système</a:t>
            </a:r>
            <a:r>
              <a:rPr lang="en-US" dirty="0"/>
              <a:t> RH</a:t>
            </a:r>
            <a:br>
              <a:rPr lang="en-US" dirty="0"/>
            </a:br>
            <a:r>
              <a:rPr lang="en-US" dirty="0"/>
              <a:t>2-le </a:t>
            </a:r>
            <a:r>
              <a:rPr lang="en-US" dirty="0" err="1"/>
              <a:t>référentiel</a:t>
            </a:r>
            <a:r>
              <a:rPr lang="en-US" dirty="0"/>
              <a:t> des </a:t>
            </a:r>
            <a:r>
              <a:rPr lang="en-US" dirty="0" err="1"/>
              <a:t>rôles</a:t>
            </a:r>
            <a:br>
              <a:rPr lang="en-US" dirty="0"/>
            </a:br>
            <a:r>
              <a:rPr lang="en-US" dirty="0"/>
              <a:t>3-le </a:t>
            </a:r>
            <a:r>
              <a:rPr lang="en-US" dirty="0" err="1"/>
              <a:t>référentiel</a:t>
            </a:r>
            <a:r>
              <a:rPr lang="en-US" dirty="0"/>
              <a:t> des </a:t>
            </a:r>
            <a:r>
              <a:rPr lang="en-US" dirty="0" err="1"/>
              <a:t>identités</a:t>
            </a:r>
            <a:r>
              <a:rPr lang="en-US" dirty="0"/>
              <a:t> </a:t>
            </a:r>
            <a:r>
              <a:rPr lang="en-US" dirty="0" err="1"/>
              <a:t>ou</a:t>
            </a:r>
            <a:r>
              <a:rPr lang="en-US" dirty="0"/>
              <a:t> </a:t>
            </a:r>
            <a:r>
              <a:rPr lang="en-US" dirty="0" err="1"/>
              <a:t>l'annuaire</a:t>
            </a:r>
            <a:r>
              <a:rPr lang="en-US" dirty="0"/>
              <a:t> des </a:t>
            </a:r>
            <a:r>
              <a:rPr lang="en-US" dirty="0" err="1"/>
              <a:t>utilisateurs</a:t>
            </a:r>
            <a:br>
              <a:rPr lang="en-US" dirty="0"/>
            </a:br>
            <a:r>
              <a:rPr lang="en-US" dirty="0"/>
              <a:t>4-le </a:t>
            </a:r>
            <a:r>
              <a:rPr lang="en-US" dirty="0" err="1"/>
              <a:t>référentiel</a:t>
            </a:r>
            <a:r>
              <a:rPr lang="en-US" dirty="0"/>
              <a:t> des </a:t>
            </a:r>
            <a:r>
              <a:rPr lang="en-US" dirty="0" err="1"/>
              <a:t>journaux</a:t>
            </a:r>
            <a:r>
              <a:rPr lang="en-US" dirty="0"/>
              <a:t> </a:t>
            </a:r>
            <a:r>
              <a:rPr lang="en-US" dirty="0" err="1"/>
              <a:t>d’audit</a:t>
            </a:r>
            <a:br>
              <a:rPr lang="en-US" dirty="0"/>
            </a:br>
            <a:r>
              <a:rPr lang="en-US" dirty="0"/>
              <a:t>5-le rapport des actions men</a:t>
            </a:r>
            <a:r>
              <a:rPr lang="fr-CA" dirty="0"/>
              <a:t>é</a:t>
            </a:r>
            <a:r>
              <a:rPr lang="en-US" dirty="0"/>
              <a:t>es par </a:t>
            </a:r>
            <a:r>
              <a:rPr lang="en-US" dirty="0" err="1"/>
              <a:t>visualisation</a:t>
            </a:r>
            <a:r>
              <a:rPr lang="fr-CA" dirty="0"/>
              <a:t>»</a:t>
            </a:r>
            <a:br>
              <a:rPr lang="fr-CA" dirty="0"/>
            </a:br>
            <a:br>
              <a:rPr lang="fr-CA" dirty="0"/>
            </a:br>
            <a:br>
              <a:rPr lang="fr-CA" dirty="0"/>
            </a:br>
            <a:br>
              <a:rPr lang="fr-CA" dirty="0"/>
            </a:br>
            <a:br>
              <a:rPr lang="fr-CA" dirty="0"/>
            </a:br>
            <a:r>
              <a:rPr lang="fr-CA" dirty="0"/>
              <a:t>Speech2: « Employees.csv: référentiel des données saisies par les RH</a:t>
            </a:r>
            <a:br>
              <a:rPr lang="fr-CA" dirty="0"/>
            </a:br>
            <a:r>
              <a:rPr lang="fr-CA" dirty="0"/>
              <a:t>Le moteur IAM: validation des données par les contrôles de gouvernances ( RBAC + données exactes)</a:t>
            </a:r>
            <a:br>
              <a:rPr lang="fr-CA" dirty="0"/>
            </a:br>
            <a:r>
              <a:rPr lang="fr-CA" dirty="0"/>
              <a:t>RoleMappings.csv: le référentiel de rôles</a:t>
            </a:r>
            <a:br>
              <a:rPr lang="fr-CA" dirty="0"/>
            </a:br>
            <a:r>
              <a:rPr lang="fr-CA" dirty="0"/>
              <a:t>simulated_users.csv:  le référentiel des utilisateurs</a:t>
            </a:r>
            <a:br>
              <a:rPr lang="fr-CA" dirty="0"/>
            </a:br>
            <a:r>
              <a:rPr lang="fr-CA" dirty="0"/>
              <a:t>audit_log.csv: référentiel de </a:t>
            </a:r>
            <a:r>
              <a:rPr lang="fr-FR" dirty="0"/>
              <a:t>toutes les actions dans les journaux d'audit</a:t>
            </a:r>
            <a:br>
              <a:rPr lang="fr-FR" dirty="0"/>
            </a:br>
            <a:r>
              <a:rPr lang="fr-FR" dirty="0"/>
              <a:t>HTML report: rapport HTML pour visualiser les résultats du traitement, les opérations réalisées ainsi que les erreurs détectées par le système »</a:t>
            </a:r>
            <a:endParaRPr lang="en-US" dirty="0"/>
          </a:p>
        </p:txBody>
      </p:sp>
      <p:sp>
        <p:nvSpPr>
          <p:cNvPr id="4" name="Slide Number Placeholder 3"/>
          <p:cNvSpPr>
            <a:spLocks noGrp="1"/>
          </p:cNvSpPr>
          <p:nvPr>
            <p:ph type="sldNum" sz="quarter" idx="5"/>
          </p:nvPr>
        </p:nvSpPr>
        <p:spPr/>
        <p:txBody>
          <a:bodyPr/>
          <a:lstStyle/>
          <a:p>
            <a:fld id="{8CADF99C-AF7E-4688-B727-7B33BD5CCDA3}" type="slidenum">
              <a:rPr lang="en-US" smtClean="0"/>
              <a:t>4</a:t>
            </a:fld>
            <a:endParaRPr lang="en-US"/>
          </a:p>
        </p:txBody>
      </p:sp>
    </p:spTree>
    <p:extLst>
      <p:ext uri="{BB962C8B-B14F-4D97-AF65-F5344CB8AC3E}">
        <p14:creationId xmlns:p14="http://schemas.microsoft.com/office/powerpoint/2010/main" val="2579354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Speech1: «</a:t>
            </a:r>
            <a:r>
              <a:rPr lang="en-US" dirty="0" err="1"/>
              <a:t>Lorsqu'un</a:t>
            </a:r>
            <a:r>
              <a:rPr lang="en-US" dirty="0"/>
              <a:t> </a:t>
            </a:r>
            <a:r>
              <a:rPr lang="en-US" dirty="0" err="1"/>
              <a:t>nouvel</a:t>
            </a:r>
            <a:r>
              <a:rPr lang="en-US" dirty="0"/>
              <a:t> </a:t>
            </a:r>
            <a:r>
              <a:rPr lang="en-US" dirty="0" err="1"/>
              <a:t>employé</a:t>
            </a:r>
            <a:r>
              <a:rPr lang="en-US" dirty="0"/>
              <a:t> rejoint </a:t>
            </a:r>
            <a:r>
              <a:rPr lang="en-US" dirty="0" err="1"/>
              <a:t>l'organisation</a:t>
            </a:r>
            <a:r>
              <a:rPr lang="en-US" dirty="0"/>
              <a:t>, le </a:t>
            </a:r>
            <a:r>
              <a:rPr lang="en-US" dirty="0" err="1"/>
              <a:t>système</a:t>
            </a:r>
            <a:r>
              <a:rPr lang="en-US" dirty="0"/>
              <a:t> commence par </a:t>
            </a:r>
            <a:r>
              <a:rPr lang="en-US" dirty="0" err="1"/>
              <a:t>valider</a:t>
            </a:r>
            <a:r>
              <a:rPr lang="en-US" dirty="0"/>
              <a:t> les </a:t>
            </a:r>
            <a:r>
              <a:rPr lang="en-US" dirty="0" err="1"/>
              <a:t>informations</a:t>
            </a:r>
            <a:r>
              <a:rPr lang="en-US" dirty="0"/>
              <a:t> </a:t>
            </a:r>
            <a:r>
              <a:rPr lang="en-US" dirty="0" err="1"/>
              <a:t>fournies</a:t>
            </a:r>
            <a:r>
              <a:rPr lang="en-US" dirty="0"/>
              <a:t> par les RH. Une </a:t>
            </a:r>
            <a:r>
              <a:rPr lang="en-US" dirty="0" err="1"/>
              <a:t>fois</a:t>
            </a:r>
            <a:r>
              <a:rPr lang="en-US" dirty="0"/>
              <a:t> </a:t>
            </a:r>
            <a:r>
              <a:rPr lang="en-US" dirty="0" err="1"/>
              <a:t>ces</a:t>
            </a:r>
            <a:r>
              <a:rPr lang="en-US" dirty="0"/>
              <a:t> validations </a:t>
            </a:r>
            <a:r>
              <a:rPr lang="en-US" dirty="0" err="1"/>
              <a:t>effectuées</a:t>
            </a:r>
            <a:r>
              <a:rPr lang="en-US" dirty="0"/>
              <a:t>, les </a:t>
            </a:r>
            <a:r>
              <a:rPr lang="en-US" dirty="0" err="1"/>
              <a:t>règles</a:t>
            </a:r>
            <a:r>
              <a:rPr lang="en-US" dirty="0"/>
              <a:t> RBAC </a:t>
            </a:r>
            <a:r>
              <a:rPr lang="en-US" dirty="0" err="1"/>
              <a:t>sont</a:t>
            </a:r>
            <a:r>
              <a:rPr lang="en-US" dirty="0"/>
              <a:t> </a:t>
            </a:r>
            <a:r>
              <a:rPr lang="en-US" dirty="0" err="1"/>
              <a:t>appliquées</a:t>
            </a:r>
            <a:r>
              <a:rPr lang="en-US" dirty="0"/>
              <a:t> </a:t>
            </a:r>
            <a:r>
              <a:rPr lang="en-US" dirty="0" err="1"/>
              <a:t>afin</a:t>
            </a:r>
            <a:r>
              <a:rPr lang="en-US" dirty="0"/>
              <a:t> </a:t>
            </a:r>
            <a:r>
              <a:rPr lang="en-US" dirty="0" err="1"/>
              <a:t>d'attribuer</a:t>
            </a:r>
            <a:r>
              <a:rPr lang="en-US" dirty="0"/>
              <a:t> </a:t>
            </a:r>
            <a:r>
              <a:rPr lang="en-US" dirty="0" err="1"/>
              <a:t>automatiquement</a:t>
            </a:r>
            <a:r>
              <a:rPr lang="en-US" dirty="0"/>
              <a:t> les </a:t>
            </a:r>
            <a:r>
              <a:rPr lang="en-US" dirty="0" err="1"/>
              <a:t>accès</a:t>
            </a:r>
            <a:r>
              <a:rPr lang="en-US" dirty="0"/>
              <a:t> </a:t>
            </a:r>
            <a:r>
              <a:rPr lang="en-US" dirty="0" err="1"/>
              <a:t>nécessaires</a:t>
            </a:r>
            <a:r>
              <a:rPr lang="en-US" dirty="0"/>
              <a:t>. Les </a:t>
            </a:r>
            <a:r>
              <a:rPr lang="en-US" dirty="0" err="1"/>
              <a:t>opérations</a:t>
            </a:r>
            <a:r>
              <a:rPr lang="en-US" dirty="0"/>
              <a:t> </a:t>
            </a:r>
            <a:r>
              <a:rPr lang="en-US" dirty="0" err="1"/>
              <a:t>réalisées</a:t>
            </a:r>
            <a:r>
              <a:rPr lang="en-US" dirty="0"/>
              <a:t> </a:t>
            </a:r>
            <a:r>
              <a:rPr lang="en-US" dirty="0" err="1"/>
              <a:t>sont</a:t>
            </a:r>
            <a:r>
              <a:rPr lang="en-US" dirty="0"/>
              <a:t> ensuite </a:t>
            </a:r>
            <a:r>
              <a:rPr lang="en-US" dirty="0" err="1"/>
              <a:t>enregistrées</a:t>
            </a:r>
            <a:r>
              <a:rPr lang="en-US" dirty="0"/>
              <a:t> dans les </a:t>
            </a:r>
            <a:r>
              <a:rPr lang="en-US" dirty="0" err="1"/>
              <a:t>journaux</a:t>
            </a:r>
            <a:r>
              <a:rPr lang="en-US" dirty="0"/>
              <a:t> </a:t>
            </a:r>
            <a:r>
              <a:rPr lang="en-US" dirty="0" err="1"/>
              <a:t>d'audit</a:t>
            </a:r>
            <a:r>
              <a:rPr lang="en-US" dirty="0"/>
              <a:t> et un rapport est </a:t>
            </a:r>
            <a:r>
              <a:rPr lang="en-US" dirty="0" err="1"/>
              <a:t>généré</a:t>
            </a:r>
            <a:r>
              <a:rPr lang="en-US" dirty="0"/>
              <a:t>.</a:t>
            </a:r>
            <a:r>
              <a:rPr lang="fr-FR" dirty="0"/>
              <a:t> »</a:t>
            </a:r>
            <a:br>
              <a:rPr lang="fr-FR" dirty="0"/>
            </a:br>
            <a:br>
              <a:rPr lang="fr-FR" dirty="0"/>
            </a:br>
            <a:br>
              <a:rPr lang="fr-FR" dirty="0"/>
            </a:br>
            <a:br>
              <a:rPr lang="fr-FR" dirty="0"/>
            </a:br>
            <a:br>
              <a:rPr lang="fr-FR" dirty="0"/>
            </a:br>
            <a:br>
              <a:rPr lang="fr-FR" dirty="0"/>
            </a:br>
            <a:r>
              <a:rPr lang="fr-FR" dirty="0"/>
              <a:t>Speech2: </a:t>
            </a:r>
            <a:r>
              <a:rPr lang="en-CA" dirty="0"/>
              <a:t>“</a:t>
            </a:r>
            <a:r>
              <a:rPr lang="fr-FR" dirty="0"/>
              <a:t>Lorsqu'un nouvel employé rejoint l'organisation, le système valide les données RH, vérifie les règles RBAC, crée le compte utilisateur, attribue les groupes nécessaires et enregistre toutes les actions dans les journaux d'audit.</a:t>
            </a:r>
            <a:br>
              <a:rPr lang="fr-FR" dirty="0"/>
            </a:br>
            <a:r>
              <a:rPr lang="fr-FR" dirty="0"/>
              <a:t>Le système commence par valider les informations fournies par les RH. »</a:t>
            </a:r>
            <a:endParaRPr lang="en-US" dirty="0"/>
          </a:p>
        </p:txBody>
      </p:sp>
      <p:sp>
        <p:nvSpPr>
          <p:cNvPr id="4" name="Slide Number Placeholder 3"/>
          <p:cNvSpPr>
            <a:spLocks noGrp="1"/>
          </p:cNvSpPr>
          <p:nvPr>
            <p:ph type="sldNum" sz="quarter" idx="5"/>
          </p:nvPr>
        </p:nvSpPr>
        <p:spPr/>
        <p:txBody>
          <a:bodyPr/>
          <a:lstStyle/>
          <a:p>
            <a:fld id="{8CADF99C-AF7E-4688-B727-7B33BD5CCDA3}" type="slidenum">
              <a:rPr lang="en-US" smtClean="0"/>
              <a:t>5</a:t>
            </a:fld>
            <a:endParaRPr lang="en-US"/>
          </a:p>
        </p:txBody>
      </p:sp>
    </p:spTree>
    <p:extLst>
      <p:ext uri="{BB962C8B-B14F-4D97-AF65-F5344CB8AC3E}">
        <p14:creationId xmlns:p14="http://schemas.microsoft.com/office/powerpoint/2010/main" val="4213608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Speech1: «</a:t>
            </a:r>
            <a:r>
              <a:rPr lang="en-US" dirty="0" err="1"/>
              <a:t>Lorsqu'un</a:t>
            </a:r>
            <a:r>
              <a:rPr lang="en-US" dirty="0"/>
              <a:t> </a:t>
            </a:r>
            <a:r>
              <a:rPr lang="en-US" dirty="0" err="1"/>
              <a:t>employé</a:t>
            </a:r>
            <a:r>
              <a:rPr lang="en-US" dirty="0"/>
              <a:t> change de </a:t>
            </a:r>
            <a:r>
              <a:rPr lang="en-US" dirty="0" err="1"/>
              <a:t>fonction</a:t>
            </a:r>
            <a:r>
              <a:rPr lang="en-US" dirty="0"/>
              <a:t>, le </a:t>
            </a:r>
            <a:r>
              <a:rPr lang="en-US" dirty="0" err="1"/>
              <a:t>système</a:t>
            </a:r>
            <a:r>
              <a:rPr lang="en-US" dirty="0"/>
              <a:t> met à jour les </a:t>
            </a:r>
            <a:r>
              <a:rPr lang="en-US" dirty="0" err="1"/>
              <a:t>accès</a:t>
            </a:r>
            <a:r>
              <a:rPr lang="en-US" dirty="0"/>
              <a:t> </a:t>
            </a:r>
            <a:r>
              <a:rPr lang="en-US" dirty="0" err="1"/>
              <a:t>afin</a:t>
            </a:r>
            <a:r>
              <a:rPr lang="en-US" dirty="0"/>
              <a:t> de respecter le </a:t>
            </a:r>
            <a:r>
              <a:rPr lang="en-US" dirty="0" err="1"/>
              <a:t>principe</a:t>
            </a:r>
            <a:r>
              <a:rPr lang="en-US" dirty="0"/>
              <a:t> du </a:t>
            </a:r>
            <a:r>
              <a:rPr lang="en-US" dirty="0" err="1"/>
              <a:t>moindre</a:t>
            </a:r>
            <a:r>
              <a:rPr lang="en-US" dirty="0"/>
              <a:t> </a:t>
            </a:r>
            <a:r>
              <a:rPr lang="en-US" dirty="0" err="1"/>
              <a:t>privilège</a:t>
            </a:r>
            <a:r>
              <a:rPr lang="en-US" dirty="0"/>
              <a:t>. </a:t>
            </a:r>
            <a:r>
              <a:rPr lang="en-US" dirty="0" err="1"/>
              <a:t>L'utilisateur</a:t>
            </a:r>
            <a:r>
              <a:rPr lang="en-US" dirty="0"/>
              <a:t> </a:t>
            </a:r>
            <a:r>
              <a:rPr lang="en-US" dirty="0" err="1"/>
              <a:t>reçoit</a:t>
            </a:r>
            <a:r>
              <a:rPr lang="en-US" dirty="0"/>
              <a:t> </a:t>
            </a:r>
            <a:r>
              <a:rPr lang="en-US" dirty="0" err="1"/>
              <a:t>uniquement</a:t>
            </a:r>
            <a:r>
              <a:rPr lang="en-US" dirty="0"/>
              <a:t> les </a:t>
            </a:r>
            <a:r>
              <a:rPr lang="en-US" dirty="0" err="1"/>
              <a:t>accès</a:t>
            </a:r>
            <a:r>
              <a:rPr lang="en-US" dirty="0"/>
              <a:t> </a:t>
            </a:r>
            <a:r>
              <a:rPr lang="en-US" dirty="0" err="1"/>
              <a:t>correspondant</a:t>
            </a:r>
            <a:r>
              <a:rPr lang="en-US" dirty="0"/>
              <a:t> à </a:t>
            </a:r>
            <a:r>
              <a:rPr lang="en-US" dirty="0" err="1"/>
              <a:t>ses</a:t>
            </a:r>
            <a:r>
              <a:rPr lang="en-US" dirty="0"/>
              <a:t> </a:t>
            </a:r>
            <a:r>
              <a:rPr lang="en-US" dirty="0" err="1"/>
              <a:t>nouvelles</a:t>
            </a:r>
            <a:r>
              <a:rPr lang="en-US" dirty="0"/>
              <a:t> </a:t>
            </a:r>
            <a:r>
              <a:rPr lang="en-US" dirty="0" err="1"/>
              <a:t>responsabilités</a:t>
            </a:r>
            <a:r>
              <a:rPr lang="en-US" dirty="0"/>
              <a:t>.</a:t>
            </a:r>
            <a:r>
              <a:rPr lang="fr-FR" dirty="0"/>
              <a:t>  »</a:t>
            </a:r>
            <a:br>
              <a:rPr lang="fr-FR" dirty="0"/>
            </a:br>
            <a:br>
              <a:rPr lang="fr-FR" dirty="0"/>
            </a:br>
            <a:br>
              <a:rPr lang="fr-FR" dirty="0"/>
            </a:br>
            <a:br>
              <a:rPr lang="fr-FR" dirty="0"/>
            </a:br>
            <a:br>
              <a:rPr lang="fr-FR" dirty="0"/>
            </a:br>
            <a:r>
              <a:rPr lang="fr-FR" dirty="0"/>
              <a:t>Speech2: « Lorsqu’une mobilité interne se fait dans l'organisation, le système valide les données RH, vérifie les règles RBAC, fait une mise à jour du rôle, attribue les groupes nécessaires et enregistre toutes les actions dans les journaux d'audit.</a:t>
            </a:r>
            <a:br>
              <a:rPr lang="fr-FR" dirty="0"/>
            </a:br>
            <a:br>
              <a:rPr lang="fr-FR" dirty="0"/>
            </a:br>
            <a:r>
              <a:rPr lang="fr-FR" dirty="0"/>
              <a:t>Le système commence par valider les informations fournies par les RH. »</a:t>
            </a:r>
            <a:endParaRPr lang="en-US" dirty="0"/>
          </a:p>
          <a:p>
            <a:endParaRPr lang="en-US" dirty="0"/>
          </a:p>
        </p:txBody>
      </p:sp>
      <p:sp>
        <p:nvSpPr>
          <p:cNvPr id="4" name="Slide Number Placeholder 3"/>
          <p:cNvSpPr>
            <a:spLocks noGrp="1"/>
          </p:cNvSpPr>
          <p:nvPr>
            <p:ph type="sldNum" sz="quarter" idx="5"/>
          </p:nvPr>
        </p:nvSpPr>
        <p:spPr/>
        <p:txBody>
          <a:bodyPr/>
          <a:lstStyle/>
          <a:p>
            <a:fld id="{8CADF99C-AF7E-4688-B727-7B33BD5CCDA3}" type="slidenum">
              <a:rPr lang="en-US" smtClean="0"/>
              <a:t>6</a:t>
            </a:fld>
            <a:endParaRPr lang="en-US"/>
          </a:p>
        </p:txBody>
      </p:sp>
    </p:spTree>
    <p:extLst>
      <p:ext uri="{BB962C8B-B14F-4D97-AF65-F5344CB8AC3E}">
        <p14:creationId xmlns:p14="http://schemas.microsoft.com/office/powerpoint/2010/main" val="4149853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Speech1: « </a:t>
            </a:r>
            <a:r>
              <a:rPr lang="en-US" dirty="0" err="1"/>
              <a:t>Lorsqu'un</a:t>
            </a:r>
            <a:r>
              <a:rPr lang="en-US" dirty="0"/>
              <a:t> </a:t>
            </a:r>
            <a:r>
              <a:rPr lang="en-US" dirty="0" err="1"/>
              <a:t>employé</a:t>
            </a:r>
            <a:r>
              <a:rPr lang="en-US" dirty="0"/>
              <a:t> </a:t>
            </a:r>
            <a:r>
              <a:rPr lang="en-US" dirty="0" err="1"/>
              <a:t>quitte</a:t>
            </a:r>
            <a:r>
              <a:rPr lang="en-US" dirty="0"/>
              <a:t> </a:t>
            </a:r>
            <a:r>
              <a:rPr lang="en-US" dirty="0" err="1"/>
              <a:t>l'organisation</a:t>
            </a:r>
            <a:r>
              <a:rPr lang="en-US" dirty="0"/>
              <a:t>, son compte est </a:t>
            </a:r>
            <a:r>
              <a:rPr lang="en-US" dirty="0" err="1"/>
              <a:t>désactivé</a:t>
            </a:r>
            <a:r>
              <a:rPr lang="en-US" dirty="0"/>
              <a:t> et </a:t>
            </a:r>
            <a:r>
              <a:rPr lang="en-US" dirty="0" err="1"/>
              <a:t>ses</a:t>
            </a:r>
            <a:r>
              <a:rPr lang="en-US" dirty="0"/>
              <a:t> </a:t>
            </a:r>
            <a:r>
              <a:rPr lang="en-US" dirty="0" err="1"/>
              <a:t>accès</a:t>
            </a:r>
            <a:r>
              <a:rPr lang="en-US" dirty="0"/>
              <a:t> </a:t>
            </a:r>
            <a:r>
              <a:rPr lang="en-US" dirty="0" err="1"/>
              <a:t>sont</a:t>
            </a:r>
            <a:r>
              <a:rPr lang="en-US" dirty="0"/>
              <a:t> </a:t>
            </a:r>
            <a:r>
              <a:rPr lang="en-US" dirty="0" err="1"/>
              <a:t>retirés</a:t>
            </a:r>
            <a:r>
              <a:rPr lang="en-US" dirty="0"/>
              <a:t>. </a:t>
            </a:r>
            <a:r>
              <a:rPr lang="en-US" dirty="0" err="1"/>
              <a:t>Toutes</a:t>
            </a:r>
            <a:r>
              <a:rPr lang="en-US" dirty="0"/>
              <a:t> </a:t>
            </a:r>
            <a:r>
              <a:rPr lang="en-US" dirty="0" err="1"/>
              <a:t>ces</a:t>
            </a:r>
            <a:r>
              <a:rPr lang="en-US" dirty="0"/>
              <a:t> actions </a:t>
            </a:r>
            <a:r>
              <a:rPr lang="en-US" dirty="0" err="1"/>
              <a:t>sont</a:t>
            </a:r>
            <a:r>
              <a:rPr lang="en-US" dirty="0"/>
              <a:t> </a:t>
            </a:r>
            <a:r>
              <a:rPr lang="en-US" dirty="0" err="1"/>
              <a:t>enregistrées</a:t>
            </a:r>
            <a:r>
              <a:rPr lang="en-US" dirty="0"/>
              <a:t> </a:t>
            </a:r>
            <a:r>
              <a:rPr lang="en-US" dirty="0" err="1"/>
              <a:t>afin</a:t>
            </a:r>
            <a:r>
              <a:rPr lang="en-US" dirty="0"/>
              <a:t> </a:t>
            </a:r>
            <a:r>
              <a:rPr lang="en-US" dirty="0" err="1"/>
              <a:t>d'assurer</a:t>
            </a:r>
            <a:r>
              <a:rPr lang="en-US" dirty="0"/>
              <a:t> la </a:t>
            </a:r>
            <a:r>
              <a:rPr lang="en-US" dirty="0" err="1"/>
              <a:t>traçabilité</a:t>
            </a:r>
            <a:r>
              <a:rPr lang="en-US" dirty="0"/>
              <a:t> et la </a:t>
            </a:r>
            <a:r>
              <a:rPr lang="en-US" dirty="0" err="1"/>
              <a:t>conformité</a:t>
            </a:r>
            <a:r>
              <a:rPr lang="en-US" dirty="0"/>
              <a:t>.</a:t>
            </a:r>
            <a:r>
              <a:rPr lang="fr-FR" dirty="0"/>
              <a:t> »</a:t>
            </a:r>
            <a:br>
              <a:rPr lang="fr-FR" dirty="0"/>
            </a:br>
            <a:br>
              <a:rPr lang="fr-FR" dirty="0"/>
            </a:br>
            <a:br>
              <a:rPr lang="fr-FR" dirty="0"/>
            </a:br>
            <a:br>
              <a:rPr lang="fr-FR" dirty="0"/>
            </a:br>
            <a:br>
              <a:rPr lang="fr-FR" dirty="0"/>
            </a:br>
            <a:r>
              <a:rPr lang="fr-FR" dirty="0"/>
              <a:t>Speech2: « Lorsqu’un départ d’employé est fait dans l'organisation, le système valide les données RH, vérifie les données employées ( validation manager ou département), désactivation du compte, retrait des groupes et enregistrement des actions dans les journaux d'audit.</a:t>
            </a:r>
            <a:br>
              <a:rPr lang="fr-FR" dirty="0"/>
            </a:br>
            <a:br>
              <a:rPr lang="fr-FR" dirty="0"/>
            </a:br>
            <a:r>
              <a:rPr lang="fr-FR" dirty="0"/>
              <a:t>Le système commence par valider les informations fournies par les RH. »</a:t>
            </a:r>
            <a:endParaRPr lang="en-US" dirty="0"/>
          </a:p>
          <a:p>
            <a:endParaRPr lang="en-US" dirty="0"/>
          </a:p>
        </p:txBody>
      </p:sp>
      <p:sp>
        <p:nvSpPr>
          <p:cNvPr id="4" name="Slide Number Placeholder 3"/>
          <p:cNvSpPr>
            <a:spLocks noGrp="1"/>
          </p:cNvSpPr>
          <p:nvPr>
            <p:ph type="sldNum" sz="quarter" idx="5"/>
          </p:nvPr>
        </p:nvSpPr>
        <p:spPr/>
        <p:txBody>
          <a:bodyPr/>
          <a:lstStyle/>
          <a:p>
            <a:fld id="{8CADF99C-AF7E-4688-B727-7B33BD5CCDA3}" type="slidenum">
              <a:rPr lang="en-US" smtClean="0"/>
              <a:t>7</a:t>
            </a:fld>
            <a:endParaRPr lang="en-US"/>
          </a:p>
        </p:txBody>
      </p:sp>
    </p:spTree>
    <p:extLst>
      <p:ext uri="{BB962C8B-B14F-4D97-AF65-F5344CB8AC3E}">
        <p14:creationId xmlns:p14="http://schemas.microsoft.com/office/powerpoint/2010/main" val="3515272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Speech1: “Cette solution applique le </a:t>
            </a:r>
            <a:r>
              <a:rPr lang="en-US" dirty="0" err="1"/>
              <a:t>principe</a:t>
            </a:r>
            <a:r>
              <a:rPr lang="en-US" dirty="0"/>
              <a:t> du </a:t>
            </a:r>
            <a:r>
              <a:rPr lang="en-US" dirty="0" err="1"/>
              <a:t>moindre</a:t>
            </a:r>
            <a:r>
              <a:rPr lang="en-US" dirty="0"/>
              <a:t> </a:t>
            </a:r>
            <a:r>
              <a:rPr lang="en-US" dirty="0" err="1"/>
              <a:t>privilège</a:t>
            </a:r>
            <a:r>
              <a:rPr lang="en-US" dirty="0"/>
              <a:t>. Les </a:t>
            </a:r>
            <a:r>
              <a:rPr lang="en-US" dirty="0" err="1"/>
              <a:t>accès</a:t>
            </a:r>
            <a:r>
              <a:rPr lang="en-US" dirty="0"/>
              <a:t> </a:t>
            </a:r>
            <a:r>
              <a:rPr lang="en-US" dirty="0" err="1"/>
              <a:t>sont</a:t>
            </a:r>
            <a:r>
              <a:rPr lang="en-US" dirty="0"/>
              <a:t> </a:t>
            </a:r>
            <a:r>
              <a:rPr lang="en-US" dirty="0" err="1"/>
              <a:t>attribués</a:t>
            </a:r>
            <a:r>
              <a:rPr lang="en-US" dirty="0"/>
              <a:t> </a:t>
            </a:r>
            <a:r>
              <a:rPr lang="en-US" dirty="0" err="1"/>
              <a:t>automatiquement</a:t>
            </a:r>
            <a:r>
              <a:rPr lang="en-US" dirty="0"/>
              <a:t> </a:t>
            </a:r>
            <a:r>
              <a:rPr lang="en-US" dirty="0" err="1"/>
              <a:t>en</a:t>
            </a:r>
            <a:r>
              <a:rPr lang="en-US" dirty="0"/>
              <a:t> </a:t>
            </a:r>
            <a:r>
              <a:rPr lang="en-US" dirty="0" err="1"/>
              <a:t>fonction</a:t>
            </a:r>
            <a:r>
              <a:rPr lang="en-US" dirty="0"/>
              <a:t> des </a:t>
            </a:r>
            <a:r>
              <a:rPr lang="en-US" dirty="0" err="1"/>
              <a:t>responsabilités</a:t>
            </a:r>
            <a:r>
              <a:rPr lang="en-US" dirty="0"/>
              <a:t> de </a:t>
            </a:r>
            <a:r>
              <a:rPr lang="en-US" dirty="0" err="1"/>
              <a:t>chaque</a:t>
            </a:r>
            <a:r>
              <a:rPr lang="en-US" dirty="0"/>
              <a:t> poste. </a:t>
            </a:r>
            <a:r>
              <a:rPr lang="en-US" dirty="0" err="1"/>
              <a:t>Ainsi</a:t>
            </a:r>
            <a:r>
              <a:rPr lang="en-US" dirty="0"/>
              <a:t>, </a:t>
            </a:r>
            <a:r>
              <a:rPr lang="en-US" dirty="0" err="1"/>
              <a:t>chaque</a:t>
            </a:r>
            <a:r>
              <a:rPr lang="en-US" dirty="0"/>
              <a:t> </a:t>
            </a:r>
            <a:r>
              <a:rPr lang="en-US" dirty="0" err="1"/>
              <a:t>utilisateur</a:t>
            </a:r>
            <a:r>
              <a:rPr lang="en-US" dirty="0"/>
              <a:t> </a:t>
            </a:r>
            <a:r>
              <a:rPr lang="en-US" dirty="0" err="1"/>
              <a:t>reçoit</a:t>
            </a:r>
            <a:r>
              <a:rPr lang="en-US" dirty="0"/>
              <a:t> </a:t>
            </a:r>
            <a:r>
              <a:rPr lang="en-US" dirty="0" err="1"/>
              <a:t>uniquement</a:t>
            </a:r>
            <a:r>
              <a:rPr lang="en-US" dirty="0"/>
              <a:t> les droits </a:t>
            </a:r>
            <a:r>
              <a:rPr lang="en-US" dirty="0" err="1"/>
              <a:t>nécessaires</a:t>
            </a:r>
            <a:r>
              <a:rPr lang="en-US" dirty="0"/>
              <a:t> à </a:t>
            </a:r>
            <a:r>
              <a:rPr lang="en-US" dirty="0" err="1"/>
              <a:t>l'exercice</a:t>
            </a:r>
            <a:r>
              <a:rPr lang="en-US" dirty="0"/>
              <a:t> de </a:t>
            </a:r>
            <a:r>
              <a:rPr lang="en-US" dirty="0" err="1"/>
              <a:t>ses</a:t>
            </a:r>
            <a:r>
              <a:rPr lang="en-US" dirty="0"/>
              <a:t> </a:t>
            </a:r>
            <a:r>
              <a:rPr lang="en-US" dirty="0" err="1"/>
              <a:t>fonctions</a:t>
            </a:r>
            <a:r>
              <a:rPr lang="en-US" dirty="0"/>
              <a:t>.”</a:t>
            </a:r>
            <a:br>
              <a:rPr lang="en-US" dirty="0"/>
            </a:br>
            <a:br>
              <a:rPr lang="en-US" dirty="0"/>
            </a:br>
            <a:br>
              <a:rPr lang="en-US" dirty="0"/>
            </a:br>
            <a:br>
              <a:rPr lang="en-US" dirty="0"/>
            </a:br>
            <a:br>
              <a:rPr lang="en-US" dirty="0"/>
            </a:br>
            <a:br>
              <a:rPr lang="en-US" dirty="0"/>
            </a:br>
            <a:r>
              <a:rPr lang="en-US" dirty="0"/>
              <a:t>Speech2: “Le </a:t>
            </a:r>
            <a:r>
              <a:rPr lang="en-US" dirty="0" err="1"/>
              <a:t>système</a:t>
            </a:r>
            <a:r>
              <a:rPr lang="en-US" dirty="0"/>
              <a:t> applique le </a:t>
            </a:r>
            <a:r>
              <a:rPr lang="en-US" dirty="0" err="1"/>
              <a:t>principe</a:t>
            </a:r>
            <a:r>
              <a:rPr lang="en-US" dirty="0"/>
              <a:t> du </a:t>
            </a:r>
            <a:r>
              <a:rPr lang="en-US" dirty="0" err="1"/>
              <a:t>moindre</a:t>
            </a:r>
            <a:r>
              <a:rPr lang="en-US" dirty="0"/>
              <a:t> </a:t>
            </a:r>
            <a:r>
              <a:rPr lang="en-US" dirty="0" err="1"/>
              <a:t>privilège</a:t>
            </a:r>
            <a:r>
              <a:rPr lang="en-US" dirty="0"/>
              <a:t>. Les </a:t>
            </a:r>
            <a:r>
              <a:rPr lang="en-US" dirty="0" err="1"/>
              <a:t>accès</a:t>
            </a:r>
            <a:r>
              <a:rPr lang="en-US" dirty="0"/>
              <a:t> </a:t>
            </a:r>
            <a:r>
              <a:rPr lang="en-US" dirty="0" err="1"/>
              <a:t>sont</a:t>
            </a:r>
            <a:r>
              <a:rPr lang="en-US" dirty="0"/>
              <a:t> </a:t>
            </a:r>
            <a:r>
              <a:rPr lang="en-US" dirty="0" err="1"/>
              <a:t>attribués</a:t>
            </a:r>
            <a:r>
              <a:rPr lang="en-US" dirty="0"/>
              <a:t> </a:t>
            </a:r>
            <a:r>
              <a:rPr lang="en-US" dirty="0" err="1"/>
              <a:t>automatiquement</a:t>
            </a:r>
            <a:r>
              <a:rPr lang="en-US" dirty="0"/>
              <a:t> </a:t>
            </a:r>
            <a:r>
              <a:rPr lang="en-US" dirty="0" err="1"/>
              <a:t>selon</a:t>
            </a:r>
            <a:r>
              <a:rPr lang="en-US" dirty="0"/>
              <a:t> le </a:t>
            </a:r>
            <a:r>
              <a:rPr lang="en-US" dirty="0" err="1"/>
              <a:t>rôle</a:t>
            </a:r>
            <a:r>
              <a:rPr lang="en-US" dirty="0"/>
              <a:t> de </a:t>
            </a:r>
            <a:r>
              <a:rPr lang="en-US" dirty="0" err="1"/>
              <a:t>l'employé</a:t>
            </a:r>
            <a:r>
              <a:rPr lang="en-US" dirty="0"/>
              <a:t> </a:t>
            </a:r>
            <a:r>
              <a:rPr lang="en-US" dirty="0" err="1"/>
              <a:t>afin</a:t>
            </a:r>
            <a:r>
              <a:rPr lang="en-US" dirty="0"/>
              <a:t> de limiter les </a:t>
            </a:r>
            <a:r>
              <a:rPr lang="en-US" dirty="0" err="1"/>
              <a:t>accès</a:t>
            </a:r>
            <a:r>
              <a:rPr lang="en-US" dirty="0"/>
              <a:t> </a:t>
            </a:r>
            <a:r>
              <a:rPr lang="en-US" dirty="0" err="1"/>
              <a:t>excessifs</a:t>
            </a:r>
            <a:r>
              <a:rPr lang="en-US" dirty="0"/>
              <a:t> et </a:t>
            </a:r>
            <a:r>
              <a:rPr lang="en-US" dirty="0" err="1"/>
              <a:t>renforcer</a:t>
            </a:r>
            <a:r>
              <a:rPr lang="en-US" dirty="0"/>
              <a:t> la sécurité.”</a:t>
            </a:r>
          </a:p>
        </p:txBody>
      </p:sp>
      <p:sp>
        <p:nvSpPr>
          <p:cNvPr id="4" name="Slide Number Placeholder 3"/>
          <p:cNvSpPr>
            <a:spLocks noGrp="1"/>
          </p:cNvSpPr>
          <p:nvPr>
            <p:ph type="sldNum" sz="quarter" idx="5"/>
          </p:nvPr>
        </p:nvSpPr>
        <p:spPr/>
        <p:txBody>
          <a:bodyPr/>
          <a:lstStyle/>
          <a:p>
            <a:fld id="{8CADF99C-AF7E-4688-B727-7B33BD5CCDA3}" type="slidenum">
              <a:rPr lang="en-US" smtClean="0"/>
              <a:t>8</a:t>
            </a:fld>
            <a:endParaRPr lang="en-US"/>
          </a:p>
        </p:txBody>
      </p:sp>
    </p:spTree>
    <p:extLst>
      <p:ext uri="{BB962C8B-B14F-4D97-AF65-F5344CB8AC3E}">
        <p14:creationId xmlns:p14="http://schemas.microsoft.com/office/powerpoint/2010/main" val="2516540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Speech1: “Avant toute </a:t>
            </a:r>
            <a:r>
              <a:rPr lang="en-US" dirty="0" err="1"/>
              <a:t>création</a:t>
            </a:r>
            <a:r>
              <a:rPr lang="en-US" dirty="0"/>
              <a:t> de compte, le </a:t>
            </a:r>
            <a:r>
              <a:rPr lang="en-US" dirty="0" err="1"/>
              <a:t>système</a:t>
            </a:r>
            <a:r>
              <a:rPr lang="en-US" dirty="0"/>
              <a:t> </a:t>
            </a:r>
            <a:r>
              <a:rPr lang="en-US" dirty="0" err="1"/>
              <a:t>vérifie</a:t>
            </a:r>
            <a:r>
              <a:rPr lang="en-US" dirty="0"/>
              <a:t> </a:t>
            </a:r>
            <a:r>
              <a:rPr lang="en-US" dirty="0" err="1"/>
              <a:t>que</a:t>
            </a:r>
            <a:r>
              <a:rPr lang="en-US" dirty="0"/>
              <a:t> </a:t>
            </a:r>
            <a:r>
              <a:rPr lang="en-US" dirty="0" err="1"/>
              <a:t>toutes</a:t>
            </a:r>
            <a:r>
              <a:rPr lang="en-US" dirty="0"/>
              <a:t> les </a:t>
            </a:r>
            <a:r>
              <a:rPr lang="en-US" dirty="0" err="1"/>
              <a:t>informations</a:t>
            </a:r>
            <a:r>
              <a:rPr lang="en-US" dirty="0"/>
              <a:t> </a:t>
            </a:r>
            <a:r>
              <a:rPr lang="en-US" dirty="0" err="1"/>
              <a:t>obligatoires</a:t>
            </a:r>
            <a:r>
              <a:rPr lang="en-US" dirty="0"/>
              <a:t> </a:t>
            </a:r>
            <a:r>
              <a:rPr lang="en-US" dirty="0" err="1"/>
              <a:t>sont</a:t>
            </a:r>
            <a:r>
              <a:rPr lang="en-US" dirty="0"/>
              <a:t> </a:t>
            </a:r>
            <a:r>
              <a:rPr lang="en-US" dirty="0" err="1"/>
              <a:t>présentes</a:t>
            </a:r>
            <a:r>
              <a:rPr lang="en-US" dirty="0"/>
              <a:t>. Si </a:t>
            </a:r>
            <a:r>
              <a:rPr lang="en-US" dirty="0" err="1"/>
              <a:t>certaines</a:t>
            </a:r>
            <a:r>
              <a:rPr lang="en-US" dirty="0"/>
              <a:t> données </a:t>
            </a:r>
            <a:r>
              <a:rPr lang="en-US" dirty="0" err="1"/>
              <a:t>sont</a:t>
            </a:r>
            <a:r>
              <a:rPr lang="en-US" dirty="0"/>
              <a:t> </a:t>
            </a:r>
            <a:r>
              <a:rPr lang="en-US" dirty="0" err="1"/>
              <a:t>manquantes</a:t>
            </a:r>
            <a:r>
              <a:rPr lang="en-US" dirty="0"/>
              <a:t>, le processus est </a:t>
            </a:r>
            <a:r>
              <a:rPr lang="en-US" dirty="0" err="1"/>
              <a:t>interrompu</a:t>
            </a:r>
            <a:r>
              <a:rPr lang="en-US" dirty="0"/>
              <a:t> </a:t>
            </a:r>
            <a:r>
              <a:rPr lang="en-US" dirty="0" err="1"/>
              <a:t>afin</a:t>
            </a:r>
            <a:r>
              <a:rPr lang="en-US" dirty="0"/>
              <a:t> </a:t>
            </a:r>
            <a:r>
              <a:rPr lang="en-US" dirty="0" err="1"/>
              <a:t>d'éviter</a:t>
            </a:r>
            <a:r>
              <a:rPr lang="en-US" dirty="0"/>
              <a:t> des </a:t>
            </a:r>
            <a:r>
              <a:rPr lang="en-US" dirty="0" err="1"/>
              <a:t>erreurs</a:t>
            </a:r>
            <a:r>
              <a:rPr lang="en-US" dirty="0"/>
              <a:t> </a:t>
            </a:r>
            <a:r>
              <a:rPr lang="en-US" dirty="0" err="1"/>
              <a:t>ou</a:t>
            </a:r>
            <a:r>
              <a:rPr lang="en-US" dirty="0"/>
              <a:t> des </a:t>
            </a:r>
            <a:r>
              <a:rPr lang="en-US" dirty="0" err="1"/>
              <a:t>risques</a:t>
            </a:r>
            <a:r>
              <a:rPr lang="en-US" dirty="0"/>
              <a:t> de sécurité.”</a:t>
            </a:r>
            <a:br>
              <a:rPr lang="en-US" dirty="0"/>
            </a:br>
            <a:br>
              <a:rPr lang="en-US" dirty="0"/>
            </a:br>
            <a:br>
              <a:rPr lang="en-US" dirty="0"/>
            </a:br>
            <a:br>
              <a:rPr lang="en-US" dirty="0"/>
            </a:br>
            <a:br>
              <a:rPr lang="en-US" dirty="0"/>
            </a:br>
            <a:r>
              <a:rPr lang="en-US" dirty="0"/>
              <a:t>Speech2: “Avant toute </a:t>
            </a:r>
            <a:r>
              <a:rPr lang="en-US" dirty="0" err="1"/>
              <a:t>création</a:t>
            </a:r>
            <a:r>
              <a:rPr lang="en-US" dirty="0"/>
              <a:t> de compte, le </a:t>
            </a:r>
            <a:r>
              <a:rPr lang="en-US" dirty="0" err="1"/>
              <a:t>système</a:t>
            </a:r>
            <a:r>
              <a:rPr lang="en-US" dirty="0"/>
              <a:t> </a:t>
            </a:r>
            <a:r>
              <a:rPr lang="en-US" dirty="0" err="1"/>
              <a:t>vérifie</a:t>
            </a:r>
            <a:r>
              <a:rPr lang="en-US" dirty="0"/>
              <a:t> </a:t>
            </a:r>
            <a:r>
              <a:rPr lang="en-US" dirty="0" err="1"/>
              <a:t>que</a:t>
            </a:r>
            <a:r>
              <a:rPr lang="en-US" dirty="0"/>
              <a:t> les </a:t>
            </a:r>
            <a:r>
              <a:rPr lang="en-US" dirty="0" err="1"/>
              <a:t>informations</a:t>
            </a:r>
            <a:r>
              <a:rPr lang="en-US" dirty="0"/>
              <a:t> </a:t>
            </a:r>
            <a:r>
              <a:rPr lang="en-US" dirty="0" err="1"/>
              <a:t>essentielles</a:t>
            </a:r>
            <a:r>
              <a:rPr lang="en-US" dirty="0"/>
              <a:t> </a:t>
            </a:r>
            <a:r>
              <a:rPr lang="en-US" dirty="0" err="1"/>
              <a:t>sont</a:t>
            </a:r>
            <a:r>
              <a:rPr lang="en-US" dirty="0"/>
              <a:t> </a:t>
            </a:r>
            <a:r>
              <a:rPr lang="en-US" dirty="0" err="1"/>
              <a:t>présentes</a:t>
            </a:r>
            <a:r>
              <a:rPr lang="en-US" dirty="0"/>
              <a:t>. Si un </a:t>
            </a:r>
            <a:r>
              <a:rPr lang="en-US" dirty="0" err="1"/>
              <a:t>gestionnaire</a:t>
            </a:r>
            <a:r>
              <a:rPr lang="en-US" dirty="0"/>
              <a:t>, un département </a:t>
            </a:r>
            <a:r>
              <a:rPr lang="en-US" dirty="0" err="1"/>
              <a:t>ou</a:t>
            </a:r>
            <a:r>
              <a:rPr lang="en-US" dirty="0"/>
              <a:t> un </a:t>
            </a:r>
            <a:r>
              <a:rPr lang="en-US" dirty="0" err="1"/>
              <a:t>rôle</a:t>
            </a:r>
            <a:r>
              <a:rPr lang="en-US" dirty="0"/>
              <a:t> est </a:t>
            </a:r>
            <a:r>
              <a:rPr lang="en-US" dirty="0" err="1"/>
              <a:t>manquant</a:t>
            </a:r>
            <a:r>
              <a:rPr lang="en-US" dirty="0"/>
              <a:t>, le processus est </a:t>
            </a:r>
            <a:r>
              <a:rPr lang="en-US" dirty="0" err="1"/>
              <a:t>bloqué</a:t>
            </a:r>
            <a:r>
              <a:rPr lang="en-US" dirty="0"/>
              <a:t> </a:t>
            </a:r>
            <a:r>
              <a:rPr lang="en-US" dirty="0" err="1"/>
              <a:t>afin</a:t>
            </a:r>
            <a:r>
              <a:rPr lang="en-US" dirty="0"/>
              <a:t> </a:t>
            </a:r>
            <a:r>
              <a:rPr lang="en-US" dirty="0" err="1"/>
              <a:t>d'éviter</a:t>
            </a:r>
            <a:r>
              <a:rPr lang="en-US" dirty="0"/>
              <a:t> des </a:t>
            </a:r>
            <a:r>
              <a:rPr lang="en-US" dirty="0" err="1"/>
              <a:t>erreurs</a:t>
            </a:r>
            <a:r>
              <a:rPr lang="en-US" dirty="0"/>
              <a:t> de sécurité.</a:t>
            </a:r>
            <a:br>
              <a:rPr lang="en-US" dirty="0"/>
            </a:br>
            <a:r>
              <a:rPr lang="en-US" dirty="0"/>
              <a:t>Message de validation </a:t>
            </a:r>
            <a:r>
              <a:rPr lang="en-US" dirty="0" err="1"/>
              <a:t>indiqué</a:t>
            </a:r>
            <a:r>
              <a:rPr lang="en-US" dirty="0"/>
              <a:t>”</a:t>
            </a:r>
          </a:p>
        </p:txBody>
      </p:sp>
      <p:sp>
        <p:nvSpPr>
          <p:cNvPr id="4" name="Slide Number Placeholder 3"/>
          <p:cNvSpPr>
            <a:spLocks noGrp="1"/>
          </p:cNvSpPr>
          <p:nvPr>
            <p:ph type="sldNum" sz="quarter" idx="5"/>
          </p:nvPr>
        </p:nvSpPr>
        <p:spPr/>
        <p:txBody>
          <a:bodyPr/>
          <a:lstStyle/>
          <a:p>
            <a:fld id="{8CADF99C-AF7E-4688-B727-7B33BD5CCDA3}" type="slidenum">
              <a:rPr lang="en-US" smtClean="0"/>
              <a:t>9</a:t>
            </a:fld>
            <a:endParaRPr lang="en-US"/>
          </a:p>
        </p:txBody>
      </p:sp>
    </p:spTree>
    <p:extLst>
      <p:ext uri="{BB962C8B-B14F-4D97-AF65-F5344CB8AC3E}">
        <p14:creationId xmlns:p14="http://schemas.microsoft.com/office/powerpoint/2010/main" val="4253024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Speech1:  </a:t>
            </a:r>
            <a:r>
              <a:rPr lang="en-US" dirty="0"/>
              <a:t>“</a:t>
            </a:r>
            <a:r>
              <a:rPr lang="en-US" dirty="0" err="1"/>
              <a:t>Toutes</a:t>
            </a:r>
            <a:r>
              <a:rPr lang="en-US" dirty="0"/>
              <a:t> les </a:t>
            </a:r>
            <a:r>
              <a:rPr lang="en-US" dirty="0" err="1"/>
              <a:t>opérations</a:t>
            </a:r>
            <a:r>
              <a:rPr lang="en-US" dirty="0"/>
              <a:t> </a:t>
            </a:r>
            <a:r>
              <a:rPr lang="en-US" dirty="0" err="1"/>
              <a:t>effectuées</a:t>
            </a:r>
            <a:r>
              <a:rPr lang="en-US" dirty="0"/>
              <a:t> </a:t>
            </a:r>
            <a:r>
              <a:rPr lang="en-US" dirty="0" err="1"/>
              <a:t>sont</a:t>
            </a:r>
            <a:r>
              <a:rPr lang="en-US" dirty="0"/>
              <a:t> </a:t>
            </a:r>
            <a:r>
              <a:rPr lang="en-US" dirty="0" err="1"/>
              <a:t>enregistrées</a:t>
            </a:r>
            <a:r>
              <a:rPr lang="en-US" dirty="0"/>
              <a:t> et un rapport est </a:t>
            </a:r>
            <a:r>
              <a:rPr lang="en-US" dirty="0" err="1"/>
              <a:t>généré</a:t>
            </a:r>
            <a:r>
              <a:rPr lang="en-US" dirty="0"/>
              <a:t> </a:t>
            </a:r>
            <a:r>
              <a:rPr lang="en-US" dirty="0" err="1"/>
              <a:t>automatiquement</a:t>
            </a:r>
            <a:r>
              <a:rPr lang="en-US" dirty="0"/>
              <a:t>. Cela </a:t>
            </a:r>
            <a:r>
              <a:rPr lang="en-US" dirty="0" err="1"/>
              <a:t>permet</a:t>
            </a:r>
            <a:r>
              <a:rPr lang="en-US" dirty="0"/>
              <a:t> de </a:t>
            </a:r>
            <a:r>
              <a:rPr lang="en-US" dirty="0" err="1"/>
              <a:t>renforcer</a:t>
            </a:r>
            <a:r>
              <a:rPr lang="en-US" dirty="0"/>
              <a:t> la </a:t>
            </a:r>
            <a:r>
              <a:rPr lang="en-US" dirty="0" err="1"/>
              <a:t>traçabilité</a:t>
            </a:r>
            <a:r>
              <a:rPr lang="en-US" dirty="0"/>
              <a:t>, la </a:t>
            </a:r>
            <a:r>
              <a:rPr lang="en-US" dirty="0" err="1"/>
              <a:t>conformité</a:t>
            </a:r>
            <a:r>
              <a:rPr lang="en-US" dirty="0"/>
              <a:t> et de </a:t>
            </a:r>
            <a:r>
              <a:rPr lang="en-US" dirty="0" err="1"/>
              <a:t>faciliter</a:t>
            </a:r>
            <a:r>
              <a:rPr lang="en-US" dirty="0"/>
              <a:t> les audits.”</a:t>
            </a:r>
            <a:br>
              <a:rPr lang="fr-FR" dirty="0"/>
            </a:br>
            <a:br>
              <a:rPr lang="fr-FR" dirty="0"/>
            </a:br>
            <a:r>
              <a:rPr lang="fr-FR" dirty="0"/>
              <a:t>Speech2: « Le rapport HTML permet de visualiser les résultats du traitement, les opérations réalisées ainsi que les erreurs détectées par le système. Il constitue également un élément important pour l'audit et la conformité. »</a:t>
            </a:r>
            <a:endParaRPr lang="en-US" dirty="0"/>
          </a:p>
        </p:txBody>
      </p:sp>
      <p:sp>
        <p:nvSpPr>
          <p:cNvPr id="4" name="Slide Number Placeholder 3"/>
          <p:cNvSpPr>
            <a:spLocks noGrp="1"/>
          </p:cNvSpPr>
          <p:nvPr>
            <p:ph type="sldNum" sz="quarter" idx="5"/>
          </p:nvPr>
        </p:nvSpPr>
        <p:spPr/>
        <p:txBody>
          <a:bodyPr/>
          <a:lstStyle/>
          <a:p>
            <a:fld id="{8CADF99C-AF7E-4688-B727-7B33BD5CCDA3}" type="slidenum">
              <a:rPr lang="en-US" smtClean="0"/>
              <a:t>10</a:t>
            </a:fld>
            <a:endParaRPr lang="en-US"/>
          </a:p>
        </p:txBody>
      </p:sp>
    </p:spTree>
    <p:extLst>
      <p:ext uri="{BB962C8B-B14F-4D97-AF65-F5344CB8AC3E}">
        <p14:creationId xmlns:p14="http://schemas.microsoft.com/office/powerpoint/2010/main" val="1492159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Speech1: “Cette </a:t>
            </a:r>
            <a:r>
              <a:rPr lang="en-US" dirty="0" err="1"/>
              <a:t>preuve</a:t>
            </a:r>
            <a:r>
              <a:rPr lang="en-US" dirty="0"/>
              <a:t> de concept </a:t>
            </a:r>
            <a:r>
              <a:rPr lang="en-US" dirty="0" err="1"/>
              <a:t>constitue</a:t>
            </a:r>
            <a:r>
              <a:rPr lang="en-US" dirty="0"/>
              <a:t> la première étape </a:t>
            </a:r>
            <a:r>
              <a:rPr lang="en-US" dirty="0" err="1"/>
              <a:t>d'une</a:t>
            </a:r>
            <a:r>
              <a:rPr lang="en-US" dirty="0"/>
              <a:t> future </a:t>
            </a:r>
            <a:r>
              <a:rPr lang="en-US" dirty="0" err="1"/>
              <a:t>plateforme</a:t>
            </a:r>
            <a:r>
              <a:rPr lang="en-US" dirty="0"/>
              <a:t> IAM </a:t>
            </a:r>
            <a:r>
              <a:rPr lang="en-US" dirty="0" err="1"/>
              <a:t>d'entreprise</a:t>
            </a:r>
            <a:r>
              <a:rPr lang="en-US" dirty="0"/>
              <a:t> </a:t>
            </a:r>
            <a:r>
              <a:rPr lang="en-US" dirty="0" err="1"/>
              <a:t>intégrant</a:t>
            </a:r>
            <a:r>
              <a:rPr lang="en-US" dirty="0"/>
              <a:t> Active Directory, Microsoft Entra ID, Microsoft 365, les </a:t>
            </a:r>
            <a:r>
              <a:rPr lang="en-US" dirty="0" err="1"/>
              <a:t>systèmes</a:t>
            </a:r>
            <a:r>
              <a:rPr lang="en-US" dirty="0"/>
              <a:t> RH et les </a:t>
            </a:r>
            <a:r>
              <a:rPr lang="en-US" dirty="0" err="1"/>
              <a:t>outils</a:t>
            </a:r>
            <a:r>
              <a:rPr lang="en-US" dirty="0"/>
              <a:t> ITSM”</a:t>
            </a:r>
            <a:br>
              <a:rPr lang="en-US" dirty="0"/>
            </a:br>
            <a:br>
              <a:rPr lang="en-US" dirty="0"/>
            </a:br>
            <a:br>
              <a:rPr lang="en-US" dirty="0"/>
            </a:br>
            <a:br>
              <a:rPr lang="en-US" dirty="0"/>
            </a:br>
            <a:br>
              <a:rPr lang="en-US" dirty="0"/>
            </a:br>
            <a:r>
              <a:rPr lang="en-US" dirty="0"/>
              <a:t>Speech2: “Cette architecture </a:t>
            </a:r>
            <a:r>
              <a:rPr lang="en-US" dirty="0" err="1"/>
              <a:t>représente</a:t>
            </a:r>
            <a:r>
              <a:rPr lang="en-US" dirty="0"/>
              <a:t> </a:t>
            </a:r>
            <a:r>
              <a:rPr lang="en-US" dirty="0" err="1"/>
              <a:t>l'évolution</a:t>
            </a:r>
            <a:r>
              <a:rPr lang="en-US" dirty="0"/>
              <a:t> du MVP vers </a:t>
            </a:r>
            <a:r>
              <a:rPr lang="en-US" dirty="0" err="1"/>
              <a:t>une</a:t>
            </a:r>
            <a:r>
              <a:rPr lang="en-US" dirty="0"/>
              <a:t> </a:t>
            </a:r>
            <a:r>
              <a:rPr lang="en-US" dirty="0" err="1"/>
              <a:t>plateforme</a:t>
            </a:r>
            <a:r>
              <a:rPr lang="en-US" dirty="0"/>
              <a:t> IAM </a:t>
            </a:r>
            <a:r>
              <a:rPr lang="en-US" dirty="0" err="1"/>
              <a:t>d'entreprise</a:t>
            </a:r>
            <a:r>
              <a:rPr lang="en-US" dirty="0"/>
              <a:t> </a:t>
            </a:r>
            <a:r>
              <a:rPr lang="en-US" dirty="0" err="1"/>
              <a:t>intégrant</a:t>
            </a:r>
            <a:r>
              <a:rPr lang="en-US" dirty="0"/>
              <a:t> Active Directory, Microsoft Entra ID, Microsoft 365, les </a:t>
            </a:r>
            <a:r>
              <a:rPr lang="en-US" dirty="0" err="1"/>
              <a:t>systèmes</a:t>
            </a:r>
            <a:r>
              <a:rPr lang="en-US" dirty="0"/>
              <a:t> RH et les </a:t>
            </a:r>
            <a:r>
              <a:rPr lang="en-US" dirty="0" err="1"/>
              <a:t>outils</a:t>
            </a:r>
            <a:r>
              <a:rPr lang="en-US" dirty="0"/>
              <a:t> ITSM.”</a:t>
            </a:r>
          </a:p>
        </p:txBody>
      </p:sp>
      <p:sp>
        <p:nvSpPr>
          <p:cNvPr id="4" name="Slide Number Placeholder 3"/>
          <p:cNvSpPr>
            <a:spLocks noGrp="1"/>
          </p:cNvSpPr>
          <p:nvPr>
            <p:ph type="sldNum" sz="quarter" idx="5"/>
          </p:nvPr>
        </p:nvSpPr>
        <p:spPr/>
        <p:txBody>
          <a:bodyPr/>
          <a:lstStyle/>
          <a:p>
            <a:fld id="{8CADF99C-AF7E-4688-B727-7B33BD5CCDA3}" type="slidenum">
              <a:rPr lang="en-US" smtClean="0"/>
              <a:t>11</a:t>
            </a:fld>
            <a:endParaRPr lang="en-US"/>
          </a:p>
        </p:txBody>
      </p:sp>
    </p:spTree>
    <p:extLst>
      <p:ext uri="{BB962C8B-B14F-4D97-AF65-F5344CB8AC3E}">
        <p14:creationId xmlns:p14="http://schemas.microsoft.com/office/powerpoint/2010/main" val="2736463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Speech1:” Cette </a:t>
            </a:r>
            <a:r>
              <a:rPr lang="en-US" dirty="0" err="1"/>
              <a:t>preuve</a:t>
            </a:r>
            <a:r>
              <a:rPr lang="en-US" dirty="0"/>
              <a:t> de concept </a:t>
            </a:r>
            <a:r>
              <a:rPr lang="en-US" dirty="0" err="1"/>
              <a:t>démontre</a:t>
            </a:r>
            <a:r>
              <a:rPr lang="en-US" dirty="0"/>
              <a:t> </a:t>
            </a:r>
            <a:r>
              <a:rPr lang="en-US" dirty="0" err="1"/>
              <a:t>qu'il</a:t>
            </a:r>
            <a:r>
              <a:rPr lang="en-US" dirty="0"/>
              <a:t> est possible </a:t>
            </a:r>
            <a:r>
              <a:rPr lang="en-US" dirty="0" err="1"/>
              <a:t>d'automatiser</a:t>
            </a:r>
            <a:r>
              <a:rPr lang="en-US" dirty="0"/>
              <a:t> le cycle de vie des </a:t>
            </a:r>
            <a:r>
              <a:rPr lang="en-US" dirty="0" err="1"/>
              <a:t>identités</a:t>
            </a:r>
            <a:r>
              <a:rPr lang="en-US" dirty="0"/>
              <a:t> tout </a:t>
            </a:r>
            <a:r>
              <a:rPr lang="en-US" dirty="0" err="1"/>
              <a:t>en</a:t>
            </a:r>
            <a:r>
              <a:rPr lang="en-US" dirty="0"/>
              <a:t> </a:t>
            </a:r>
            <a:r>
              <a:rPr lang="en-US" dirty="0" err="1"/>
              <a:t>appliquant</a:t>
            </a:r>
            <a:r>
              <a:rPr lang="en-US" dirty="0"/>
              <a:t> les principes de sécurité, de </a:t>
            </a:r>
            <a:r>
              <a:rPr lang="en-US" dirty="0" err="1"/>
              <a:t>gouvernance</a:t>
            </a:r>
            <a:r>
              <a:rPr lang="en-US" dirty="0"/>
              <a:t>, de </a:t>
            </a:r>
            <a:r>
              <a:rPr lang="en-US" dirty="0" err="1"/>
              <a:t>contrôle</a:t>
            </a:r>
            <a:r>
              <a:rPr lang="en-US" dirty="0"/>
              <a:t> </a:t>
            </a:r>
            <a:r>
              <a:rPr lang="en-US" dirty="0" err="1"/>
              <a:t>d'accès</a:t>
            </a:r>
            <a:r>
              <a:rPr lang="en-US" dirty="0"/>
              <a:t> </a:t>
            </a:r>
            <a:r>
              <a:rPr lang="en-US" dirty="0" err="1"/>
              <a:t>basé</a:t>
            </a:r>
            <a:r>
              <a:rPr lang="en-US" dirty="0"/>
              <a:t> sur les </a:t>
            </a:r>
            <a:r>
              <a:rPr lang="en-US" dirty="0" err="1"/>
              <a:t>rôles</a:t>
            </a:r>
            <a:r>
              <a:rPr lang="en-US" dirty="0"/>
              <a:t>, </a:t>
            </a:r>
            <a:r>
              <a:rPr lang="en-US" dirty="0" err="1"/>
              <a:t>d'audit</a:t>
            </a:r>
            <a:r>
              <a:rPr lang="en-US" dirty="0"/>
              <a:t> et de </a:t>
            </a:r>
            <a:r>
              <a:rPr lang="en-US" dirty="0" err="1"/>
              <a:t>conformité</a:t>
            </a:r>
            <a:r>
              <a:rPr lang="en-US" dirty="0"/>
              <a:t>. La </a:t>
            </a:r>
            <a:r>
              <a:rPr lang="en-US" dirty="0" err="1"/>
              <a:t>prochaine</a:t>
            </a:r>
            <a:r>
              <a:rPr lang="en-US" dirty="0"/>
              <a:t> étape </a:t>
            </a:r>
            <a:r>
              <a:rPr lang="en-US" dirty="0" err="1"/>
              <a:t>consistera</a:t>
            </a:r>
            <a:r>
              <a:rPr lang="en-US" dirty="0"/>
              <a:t> à </a:t>
            </a:r>
            <a:r>
              <a:rPr lang="en-US" dirty="0" err="1"/>
              <a:t>intégrer</a:t>
            </a:r>
            <a:r>
              <a:rPr lang="en-US" dirty="0"/>
              <a:t> Active Directory, Microsoft Entra ID et les </a:t>
            </a:r>
            <a:r>
              <a:rPr lang="en-US" dirty="0" err="1"/>
              <a:t>systèmes</a:t>
            </a:r>
            <a:r>
              <a:rPr lang="en-US" dirty="0"/>
              <a:t> RH </a:t>
            </a:r>
            <a:r>
              <a:rPr lang="en-US" dirty="0" err="1"/>
              <a:t>afin</a:t>
            </a:r>
            <a:r>
              <a:rPr lang="en-US" dirty="0"/>
              <a:t> </a:t>
            </a:r>
            <a:r>
              <a:rPr lang="en-US" dirty="0" err="1"/>
              <a:t>d'évoluer</a:t>
            </a:r>
            <a:r>
              <a:rPr lang="en-US" dirty="0"/>
              <a:t> vers </a:t>
            </a:r>
            <a:r>
              <a:rPr lang="en-US" dirty="0" err="1"/>
              <a:t>une</a:t>
            </a:r>
            <a:r>
              <a:rPr lang="en-US" dirty="0"/>
              <a:t> </a:t>
            </a:r>
            <a:r>
              <a:rPr lang="en-US" dirty="0" err="1"/>
              <a:t>véritable</a:t>
            </a:r>
            <a:r>
              <a:rPr lang="en-US" dirty="0"/>
              <a:t> </a:t>
            </a:r>
            <a:r>
              <a:rPr lang="en-US" dirty="0" err="1"/>
              <a:t>plateforme</a:t>
            </a:r>
            <a:r>
              <a:rPr lang="en-US" dirty="0"/>
              <a:t> IAM </a:t>
            </a:r>
            <a:r>
              <a:rPr lang="en-US" dirty="0" err="1"/>
              <a:t>d'entreprise</a:t>
            </a:r>
            <a:r>
              <a:rPr lang="en-US" dirty="0"/>
              <a:t>“</a:t>
            </a:r>
          </a:p>
          <a:p>
            <a:endParaRPr lang="en-US" dirty="0"/>
          </a:p>
          <a:p>
            <a:endParaRPr lang="en-US" dirty="0"/>
          </a:p>
          <a:p>
            <a:endParaRPr lang="en-US" dirty="0"/>
          </a:p>
          <a:p>
            <a:endParaRPr lang="en-US"/>
          </a:p>
          <a:p>
            <a:br>
              <a:rPr lang="en-US"/>
            </a:br>
            <a:r>
              <a:rPr lang="en-US"/>
              <a:t>Speech2</a:t>
            </a:r>
            <a:r>
              <a:rPr lang="en-US" dirty="0"/>
              <a:t>: “Pour </a:t>
            </a:r>
            <a:r>
              <a:rPr lang="en-US" dirty="0" err="1"/>
              <a:t>conclure</a:t>
            </a:r>
            <a:r>
              <a:rPr lang="en-US" dirty="0"/>
              <a:t> , </a:t>
            </a:r>
            <a:r>
              <a:rPr lang="en-US" dirty="0" err="1"/>
              <a:t>cette</a:t>
            </a:r>
            <a:r>
              <a:rPr lang="en-US" dirty="0"/>
              <a:t> </a:t>
            </a:r>
            <a:r>
              <a:rPr lang="en-US" dirty="0" err="1"/>
              <a:t>preuve</a:t>
            </a:r>
            <a:r>
              <a:rPr lang="en-US" dirty="0"/>
              <a:t> de concept </a:t>
            </a:r>
            <a:r>
              <a:rPr lang="en-US" dirty="0" err="1"/>
              <a:t>démontre</a:t>
            </a:r>
            <a:r>
              <a:rPr lang="en-US" dirty="0"/>
              <a:t> </a:t>
            </a:r>
            <a:r>
              <a:rPr lang="en-US" dirty="0" err="1"/>
              <a:t>qu'il</a:t>
            </a:r>
            <a:r>
              <a:rPr lang="en-US" dirty="0"/>
              <a:t> est possible </a:t>
            </a:r>
            <a:r>
              <a:rPr lang="en-US" dirty="0" err="1"/>
              <a:t>d'automatiser</a:t>
            </a:r>
            <a:r>
              <a:rPr lang="en-US" dirty="0"/>
              <a:t> le cycle de vie des </a:t>
            </a:r>
            <a:r>
              <a:rPr lang="en-US" dirty="0" err="1"/>
              <a:t>identités</a:t>
            </a:r>
            <a:r>
              <a:rPr lang="en-US" dirty="0"/>
              <a:t> tout </a:t>
            </a:r>
            <a:r>
              <a:rPr lang="en-US" dirty="0" err="1"/>
              <a:t>en</a:t>
            </a:r>
            <a:r>
              <a:rPr lang="en-US" dirty="0"/>
              <a:t> </a:t>
            </a:r>
            <a:r>
              <a:rPr lang="en-US" dirty="0" err="1"/>
              <a:t>appliquant</a:t>
            </a:r>
            <a:r>
              <a:rPr lang="en-US" dirty="0"/>
              <a:t> les principes de sécurité, de </a:t>
            </a:r>
            <a:r>
              <a:rPr lang="en-US" dirty="0" err="1"/>
              <a:t>gouvernance</a:t>
            </a:r>
            <a:r>
              <a:rPr lang="en-US" dirty="0"/>
              <a:t>, de </a:t>
            </a:r>
            <a:r>
              <a:rPr lang="en-US" dirty="0" err="1"/>
              <a:t>contrôle</a:t>
            </a:r>
            <a:r>
              <a:rPr lang="en-US" dirty="0"/>
              <a:t> </a:t>
            </a:r>
            <a:r>
              <a:rPr lang="en-US" dirty="0" err="1"/>
              <a:t>d'accès</a:t>
            </a:r>
            <a:r>
              <a:rPr lang="en-US" dirty="0"/>
              <a:t> </a:t>
            </a:r>
            <a:r>
              <a:rPr lang="en-US" dirty="0" err="1"/>
              <a:t>basé</a:t>
            </a:r>
            <a:r>
              <a:rPr lang="en-US" dirty="0"/>
              <a:t> sur les </a:t>
            </a:r>
            <a:r>
              <a:rPr lang="en-US" dirty="0" err="1"/>
              <a:t>rôles</a:t>
            </a:r>
            <a:r>
              <a:rPr lang="en-US" dirty="0"/>
              <a:t>, </a:t>
            </a:r>
            <a:r>
              <a:rPr lang="en-US" dirty="0" err="1"/>
              <a:t>d'audit</a:t>
            </a:r>
            <a:r>
              <a:rPr lang="en-US" dirty="0"/>
              <a:t> et de </a:t>
            </a:r>
            <a:r>
              <a:rPr lang="en-US" dirty="0" err="1"/>
              <a:t>conformité</a:t>
            </a:r>
            <a:r>
              <a:rPr lang="en-US" dirty="0"/>
              <a:t>. La </a:t>
            </a:r>
            <a:r>
              <a:rPr lang="en-US" dirty="0" err="1"/>
              <a:t>prochaine</a:t>
            </a:r>
            <a:r>
              <a:rPr lang="en-US" dirty="0"/>
              <a:t> étape </a:t>
            </a:r>
            <a:r>
              <a:rPr lang="en-US" dirty="0" err="1"/>
              <a:t>consiste</a:t>
            </a:r>
            <a:r>
              <a:rPr lang="en-US" dirty="0"/>
              <a:t> à </a:t>
            </a:r>
            <a:r>
              <a:rPr lang="en-US" dirty="0" err="1"/>
              <a:t>intégrer</a:t>
            </a:r>
            <a:r>
              <a:rPr lang="en-US" dirty="0"/>
              <a:t> Active Directory, Microsoft Entra ID et les </a:t>
            </a:r>
            <a:r>
              <a:rPr lang="en-US" dirty="0" err="1"/>
              <a:t>systèmes</a:t>
            </a:r>
            <a:r>
              <a:rPr lang="en-US" dirty="0"/>
              <a:t> RH et ITSM </a:t>
            </a:r>
            <a:r>
              <a:rPr lang="en-US" dirty="0" err="1"/>
              <a:t>afin</a:t>
            </a:r>
            <a:r>
              <a:rPr lang="en-US" dirty="0"/>
              <a:t> </a:t>
            </a:r>
            <a:r>
              <a:rPr lang="en-US" dirty="0" err="1"/>
              <a:t>d'évoluer</a:t>
            </a:r>
            <a:r>
              <a:rPr lang="en-US" dirty="0"/>
              <a:t> vers </a:t>
            </a:r>
            <a:r>
              <a:rPr lang="en-US" dirty="0" err="1"/>
              <a:t>une</a:t>
            </a:r>
            <a:r>
              <a:rPr lang="en-US" dirty="0"/>
              <a:t> </a:t>
            </a:r>
            <a:r>
              <a:rPr lang="en-US" dirty="0" err="1"/>
              <a:t>véritable</a:t>
            </a:r>
            <a:r>
              <a:rPr lang="en-US" dirty="0"/>
              <a:t> </a:t>
            </a:r>
            <a:r>
              <a:rPr lang="en-US" dirty="0" err="1"/>
              <a:t>plateforme</a:t>
            </a:r>
            <a:r>
              <a:rPr lang="en-US" dirty="0"/>
              <a:t> IAM </a:t>
            </a:r>
            <a:r>
              <a:rPr lang="en-US" dirty="0" err="1"/>
              <a:t>d'entreprise</a:t>
            </a:r>
            <a:r>
              <a:rPr lang="en-US" dirty="0"/>
              <a:t>.”</a:t>
            </a:r>
          </a:p>
        </p:txBody>
      </p:sp>
      <p:sp>
        <p:nvSpPr>
          <p:cNvPr id="4" name="Slide Number Placeholder 3"/>
          <p:cNvSpPr>
            <a:spLocks noGrp="1"/>
          </p:cNvSpPr>
          <p:nvPr>
            <p:ph type="sldNum" sz="quarter" idx="5"/>
          </p:nvPr>
        </p:nvSpPr>
        <p:spPr/>
        <p:txBody>
          <a:bodyPr/>
          <a:lstStyle/>
          <a:p>
            <a:fld id="{8CADF99C-AF7E-4688-B727-7B33BD5CCDA3}" type="slidenum">
              <a:rPr lang="en-US" smtClean="0"/>
              <a:t>12</a:t>
            </a:fld>
            <a:endParaRPr lang="en-US"/>
          </a:p>
        </p:txBody>
      </p:sp>
    </p:spTree>
    <p:extLst>
      <p:ext uri="{BB962C8B-B14F-4D97-AF65-F5344CB8AC3E}">
        <p14:creationId xmlns:p14="http://schemas.microsoft.com/office/powerpoint/2010/main" val="3163639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F1AA6-5CBB-A86B-9865-6AACBAE79A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8D1ECC-63D4-566C-CCD3-FB37D3CEF7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B55D25-8435-9BB5-A886-0A76519613F2}"/>
              </a:ext>
            </a:extLst>
          </p:cNvPr>
          <p:cNvSpPr>
            <a:spLocks noGrp="1"/>
          </p:cNvSpPr>
          <p:nvPr>
            <p:ph type="dt" sz="half" idx="10"/>
          </p:nvPr>
        </p:nvSpPr>
        <p:spPr/>
        <p:txBody>
          <a:bodyPr/>
          <a:lstStyle/>
          <a:p>
            <a:fld id="{6EC124F2-B461-4993-8DAA-E392A8E68310}" type="datetimeFigureOut">
              <a:rPr lang="en-US" smtClean="0"/>
              <a:t>6/15/2026</a:t>
            </a:fld>
            <a:endParaRPr lang="en-US"/>
          </a:p>
        </p:txBody>
      </p:sp>
      <p:sp>
        <p:nvSpPr>
          <p:cNvPr id="5" name="Footer Placeholder 4">
            <a:extLst>
              <a:ext uri="{FF2B5EF4-FFF2-40B4-BE49-F238E27FC236}">
                <a16:creationId xmlns:a16="http://schemas.microsoft.com/office/drawing/2014/main" id="{82A6E1C0-8584-EBD6-7699-240E516AEF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A719C3-F93E-3145-16B7-D6959242B997}"/>
              </a:ext>
            </a:extLst>
          </p:cNvPr>
          <p:cNvSpPr>
            <a:spLocks noGrp="1"/>
          </p:cNvSpPr>
          <p:nvPr>
            <p:ph type="sldNum" sz="quarter" idx="12"/>
          </p:nvPr>
        </p:nvSpPr>
        <p:spPr/>
        <p:txBody>
          <a:bodyPr/>
          <a:lstStyle/>
          <a:p>
            <a:fld id="{9FA19B3E-6694-4471-BB2F-E72CC5650E27}" type="slidenum">
              <a:rPr lang="en-US" smtClean="0"/>
              <a:t>‹#›</a:t>
            </a:fld>
            <a:endParaRPr lang="en-US"/>
          </a:p>
        </p:txBody>
      </p:sp>
    </p:spTree>
    <p:extLst>
      <p:ext uri="{BB962C8B-B14F-4D97-AF65-F5344CB8AC3E}">
        <p14:creationId xmlns:p14="http://schemas.microsoft.com/office/powerpoint/2010/main" val="3183586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14A5B-339C-B264-082D-64B257A3F0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898D23-8973-5DC3-B7EA-6F121D81BB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148C99-FCD9-5D2E-E6C5-CBB910C7EC5B}"/>
              </a:ext>
            </a:extLst>
          </p:cNvPr>
          <p:cNvSpPr>
            <a:spLocks noGrp="1"/>
          </p:cNvSpPr>
          <p:nvPr>
            <p:ph type="dt" sz="half" idx="10"/>
          </p:nvPr>
        </p:nvSpPr>
        <p:spPr/>
        <p:txBody>
          <a:bodyPr/>
          <a:lstStyle/>
          <a:p>
            <a:fld id="{6EC124F2-B461-4993-8DAA-E392A8E68310}" type="datetimeFigureOut">
              <a:rPr lang="en-US" smtClean="0"/>
              <a:t>6/15/2026</a:t>
            </a:fld>
            <a:endParaRPr lang="en-US"/>
          </a:p>
        </p:txBody>
      </p:sp>
      <p:sp>
        <p:nvSpPr>
          <p:cNvPr id="5" name="Footer Placeholder 4">
            <a:extLst>
              <a:ext uri="{FF2B5EF4-FFF2-40B4-BE49-F238E27FC236}">
                <a16:creationId xmlns:a16="http://schemas.microsoft.com/office/drawing/2014/main" id="{B7F7EBCD-486B-D362-FA05-AC7480EF0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57F92E-AF75-418C-A257-18991B7A16B3}"/>
              </a:ext>
            </a:extLst>
          </p:cNvPr>
          <p:cNvSpPr>
            <a:spLocks noGrp="1"/>
          </p:cNvSpPr>
          <p:nvPr>
            <p:ph type="sldNum" sz="quarter" idx="12"/>
          </p:nvPr>
        </p:nvSpPr>
        <p:spPr/>
        <p:txBody>
          <a:bodyPr/>
          <a:lstStyle/>
          <a:p>
            <a:fld id="{9FA19B3E-6694-4471-BB2F-E72CC5650E27}" type="slidenum">
              <a:rPr lang="en-US" smtClean="0"/>
              <a:t>‹#›</a:t>
            </a:fld>
            <a:endParaRPr lang="en-US"/>
          </a:p>
        </p:txBody>
      </p:sp>
    </p:spTree>
    <p:extLst>
      <p:ext uri="{BB962C8B-B14F-4D97-AF65-F5344CB8AC3E}">
        <p14:creationId xmlns:p14="http://schemas.microsoft.com/office/powerpoint/2010/main" val="2647422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0C003-B55F-D5A6-D76F-13A8F6B705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D025D6-6F0C-2153-6BD8-57551FC65B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28483-E273-3105-E7B9-C33FA33BD7F2}"/>
              </a:ext>
            </a:extLst>
          </p:cNvPr>
          <p:cNvSpPr>
            <a:spLocks noGrp="1"/>
          </p:cNvSpPr>
          <p:nvPr>
            <p:ph type="dt" sz="half" idx="10"/>
          </p:nvPr>
        </p:nvSpPr>
        <p:spPr/>
        <p:txBody>
          <a:bodyPr/>
          <a:lstStyle/>
          <a:p>
            <a:fld id="{6EC124F2-B461-4993-8DAA-E392A8E68310}" type="datetimeFigureOut">
              <a:rPr lang="en-US" smtClean="0"/>
              <a:t>6/15/2026</a:t>
            </a:fld>
            <a:endParaRPr lang="en-US"/>
          </a:p>
        </p:txBody>
      </p:sp>
      <p:sp>
        <p:nvSpPr>
          <p:cNvPr id="5" name="Footer Placeholder 4">
            <a:extLst>
              <a:ext uri="{FF2B5EF4-FFF2-40B4-BE49-F238E27FC236}">
                <a16:creationId xmlns:a16="http://schemas.microsoft.com/office/drawing/2014/main" id="{82FA8E36-F424-3678-ED4C-FF9B23E0E8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1812F7-1574-D50B-420D-F155D214F4EB}"/>
              </a:ext>
            </a:extLst>
          </p:cNvPr>
          <p:cNvSpPr>
            <a:spLocks noGrp="1"/>
          </p:cNvSpPr>
          <p:nvPr>
            <p:ph type="sldNum" sz="quarter" idx="12"/>
          </p:nvPr>
        </p:nvSpPr>
        <p:spPr/>
        <p:txBody>
          <a:bodyPr/>
          <a:lstStyle/>
          <a:p>
            <a:fld id="{9FA19B3E-6694-4471-BB2F-E72CC5650E27}" type="slidenum">
              <a:rPr lang="en-US" smtClean="0"/>
              <a:t>‹#›</a:t>
            </a:fld>
            <a:endParaRPr lang="en-US"/>
          </a:p>
        </p:txBody>
      </p:sp>
    </p:spTree>
    <p:extLst>
      <p:ext uri="{BB962C8B-B14F-4D97-AF65-F5344CB8AC3E}">
        <p14:creationId xmlns:p14="http://schemas.microsoft.com/office/powerpoint/2010/main" val="3411639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FAE69-906E-069D-F7C5-860AD20849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6C791C-FFE0-9EC3-D233-3FBB630628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7FFE4E-6DAB-53E3-9E1E-D4831B296A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58C8FB-326C-6CA9-AF81-BD204DD71102}"/>
              </a:ext>
            </a:extLst>
          </p:cNvPr>
          <p:cNvSpPr>
            <a:spLocks noGrp="1"/>
          </p:cNvSpPr>
          <p:nvPr>
            <p:ph type="dt" sz="half" idx="10"/>
          </p:nvPr>
        </p:nvSpPr>
        <p:spPr/>
        <p:txBody>
          <a:bodyPr/>
          <a:lstStyle/>
          <a:p>
            <a:fld id="{6EC124F2-B461-4993-8DAA-E392A8E68310}" type="datetimeFigureOut">
              <a:rPr lang="en-US" smtClean="0"/>
              <a:t>6/15/2026</a:t>
            </a:fld>
            <a:endParaRPr lang="en-US"/>
          </a:p>
        </p:txBody>
      </p:sp>
      <p:sp>
        <p:nvSpPr>
          <p:cNvPr id="6" name="Footer Placeholder 5">
            <a:extLst>
              <a:ext uri="{FF2B5EF4-FFF2-40B4-BE49-F238E27FC236}">
                <a16:creationId xmlns:a16="http://schemas.microsoft.com/office/drawing/2014/main" id="{21AC363D-96ED-DDB6-5B38-4FD58A3DDF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A4B866-07A5-C97F-0795-1AF5E04D9245}"/>
              </a:ext>
            </a:extLst>
          </p:cNvPr>
          <p:cNvSpPr>
            <a:spLocks noGrp="1"/>
          </p:cNvSpPr>
          <p:nvPr>
            <p:ph type="sldNum" sz="quarter" idx="12"/>
          </p:nvPr>
        </p:nvSpPr>
        <p:spPr/>
        <p:txBody>
          <a:bodyPr/>
          <a:lstStyle/>
          <a:p>
            <a:fld id="{9FA19B3E-6694-4471-BB2F-E72CC5650E27}" type="slidenum">
              <a:rPr lang="en-US" smtClean="0"/>
              <a:t>‹#›</a:t>
            </a:fld>
            <a:endParaRPr lang="en-US"/>
          </a:p>
        </p:txBody>
      </p:sp>
    </p:spTree>
    <p:extLst>
      <p:ext uri="{BB962C8B-B14F-4D97-AF65-F5344CB8AC3E}">
        <p14:creationId xmlns:p14="http://schemas.microsoft.com/office/powerpoint/2010/main" val="363933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A5D2-A258-7322-C81C-44353957D0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170AAE-9CB6-0FB8-7E32-C2365114E8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57118A-2760-CD93-2F0B-7DCB8D9CBA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FAF4D9-DF33-D0BF-AB98-9C7B5A045F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0F2C00-DDBA-702A-C077-CD24E658DE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3FA4C7-73F1-2F94-1259-6CA7C49F38C4}"/>
              </a:ext>
            </a:extLst>
          </p:cNvPr>
          <p:cNvSpPr>
            <a:spLocks noGrp="1"/>
          </p:cNvSpPr>
          <p:nvPr>
            <p:ph type="dt" sz="half" idx="10"/>
          </p:nvPr>
        </p:nvSpPr>
        <p:spPr/>
        <p:txBody>
          <a:bodyPr/>
          <a:lstStyle/>
          <a:p>
            <a:fld id="{6EC124F2-B461-4993-8DAA-E392A8E68310}" type="datetimeFigureOut">
              <a:rPr lang="en-US" smtClean="0"/>
              <a:t>6/15/2026</a:t>
            </a:fld>
            <a:endParaRPr lang="en-US"/>
          </a:p>
        </p:txBody>
      </p:sp>
      <p:sp>
        <p:nvSpPr>
          <p:cNvPr id="8" name="Footer Placeholder 7">
            <a:extLst>
              <a:ext uri="{FF2B5EF4-FFF2-40B4-BE49-F238E27FC236}">
                <a16:creationId xmlns:a16="http://schemas.microsoft.com/office/drawing/2014/main" id="{9AE55F99-7D57-E9FC-DDCD-B9800EA0BF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9897C3-838D-8514-3E1F-16B18CCD0EDA}"/>
              </a:ext>
            </a:extLst>
          </p:cNvPr>
          <p:cNvSpPr>
            <a:spLocks noGrp="1"/>
          </p:cNvSpPr>
          <p:nvPr>
            <p:ph type="sldNum" sz="quarter" idx="12"/>
          </p:nvPr>
        </p:nvSpPr>
        <p:spPr/>
        <p:txBody>
          <a:bodyPr/>
          <a:lstStyle/>
          <a:p>
            <a:fld id="{9FA19B3E-6694-4471-BB2F-E72CC5650E27}" type="slidenum">
              <a:rPr lang="en-US" smtClean="0"/>
              <a:t>‹#›</a:t>
            </a:fld>
            <a:endParaRPr lang="en-US"/>
          </a:p>
        </p:txBody>
      </p:sp>
    </p:spTree>
    <p:extLst>
      <p:ext uri="{BB962C8B-B14F-4D97-AF65-F5344CB8AC3E}">
        <p14:creationId xmlns:p14="http://schemas.microsoft.com/office/powerpoint/2010/main" val="1928398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96BE3-B317-C366-D8E1-0BE2621F59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6D412A-0BB9-90B6-FE54-8AF30F7443F6}"/>
              </a:ext>
            </a:extLst>
          </p:cNvPr>
          <p:cNvSpPr>
            <a:spLocks noGrp="1"/>
          </p:cNvSpPr>
          <p:nvPr>
            <p:ph type="dt" sz="half" idx="10"/>
          </p:nvPr>
        </p:nvSpPr>
        <p:spPr/>
        <p:txBody>
          <a:bodyPr/>
          <a:lstStyle/>
          <a:p>
            <a:fld id="{6EC124F2-B461-4993-8DAA-E392A8E68310}" type="datetimeFigureOut">
              <a:rPr lang="en-US" smtClean="0"/>
              <a:t>6/15/2026</a:t>
            </a:fld>
            <a:endParaRPr lang="en-US"/>
          </a:p>
        </p:txBody>
      </p:sp>
      <p:sp>
        <p:nvSpPr>
          <p:cNvPr id="4" name="Footer Placeholder 3">
            <a:extLst>
              <a:ext uri="{FF2B5EF4-FFF2-40B4-BE49-F238E27FC236}">
                <a16:creationId xmlns:a16="http://schemas.microsoft.com/office/drawing/2014/main" id="{007F6CB3-0733-14D2-5278-BA35F835D3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EB1FCD-0D5F-B68C-7C4D-ACF08303E975}"/>
              </a:ext>
            </a:extLst>
          </p:cNvPr>
          <p:cNvSpPr>
            <a:spLocks noGrp="1"/>
          </p:cNvSpPr>
          <p:nvPr>
            <p:ph type="sldNum" sz="quarter" idx="12"/>
          </p:nvPr>
        </p:nvSpPr>
        <p:spPr/>
        <p:txBody>
          <a:bodyPr/>
          <a:lstStyle/>
          <a:p>
            <a:fld id="{9FA19B3E-6694-4471-BB2F-E72CC5650E27}" type="slidenum">
              <a:rPr lang="en-US" smtClean="0"/>
              <a:t>‹#›</a:t>
            </a:fld>
            <a:endParaRPr lang="en-US"/>
          </a:p>
        </p:txBody>
      </p:sp>
    </p:spTree>
    <p:extLst>
      <p:ext uri="{BB962C8B-B14F-4D97-AF65-F5344CB8AC3E}">
        <p14:creationId xmlns:p14="http://schemas.microsoft.com/office/powerpoint/2010/main" val="3003865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63C2D8-6B7D-E6B5-B1A0-E3534BDA3112}"/>
              </a:ext>
            </a:extLst>
          </p:cNvPr>
          <p:cNvSpPr>
            <a:spLocks noGrp="1"/>
          </p:cNvSpPr>
          <p:nvPr>
            <p:ph type="dt" sz="half" idx="10"/>
          </p:nvPr>
        </p:nvSpPr>
        <p:spPr/>
        <p:txBody>
          <a:bodyPr/>
          <a:lstStyle/>
          <a:p>
            <a:fld id="{6EC124F2-B461-4993-8DAA-E392A8E68310}" type="datetimeFigureOut">
              <a:rPr lang="en-US" smtClean="0"/>
              <a:t>6/15/2026</a:t>
            </a:fld>
            <a:endParaRPr lang="en-US"/>
          </a:p>
        </p:txBody>
      </p:sp>
      <p:sp>
        <p:nvSpPr>
          <p:cNvPr id="3" name="Footer Placeholder 2">
            <a:extLst>
              <a:ext uri="{FF2B5EF4-FFF2-40B4-BE49-F238E27FC236}">
                <a16:creationId xmlns:a16="http://schemas.microsoft.com/office/drawing/2014/main" id="{83AAE7AA-3FB9-BE8F-8593-1F91DD64F0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B5D852-15AB-C27B-B717-454FFA86F062}"/>
              </a:ext>
            </a:extLst>
          </p:cNvPr>
          <p:cNvSpPr>
            <a:spLocks noGrp="1"/>
          </p:cNvSpPr>
          <p:nvPr>
            <p:ph type="sldNum" sz="quarter" idx="12"/>
          </p:nvPr>
        </p:nvSpPr>
        <p:spPr/>
        <p:txBody>
          <a:bodyPr/>
          <a:lstStyle/>
          <a:p>
            <a:fld id="{9FA19B3E-6694-4471-BB2F-E72CC5650E27}" type="slidenum">
              <a:rPr lang="en-US" smtClean="0"/>
              <a:t>‹#›</a:t>
            </a:fld>
            <a:endParaRPr lang="en-US"/>
          </a:p>
        </p:txBody>
      </p:sp>
    </p:spTree>
    <p:extLst>
      <p:ext uri="{BB962C8B-B14F-4D97-AF65-F5344CB8AC3E}">
        <p14:creationId xmlns:p14="http://schemas.microsoft.com/office/powerpoint/2010/main" val="2284891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2E359-9873-302A-B755-3EBB07293B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6A92BA-2FF5-BC5C-981F-D1573E2C80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4FAEE0-F29B-DD65-CB9E-593BE92D47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9A8B39-870D-46D1-CB54-9F06D067C6BA}"/>
              </a:ext>
            </a:extLst>
          </p:cNvPr>
          <p:cNvSpPr>
            <a:spLocks noGrp="1"/>
          </p:cNvSpPr>
          <p:nvPr>
            <p:ph type="dt" sz="half" idx="10"/>
          </p:nvPr>
        </p:nvSpPr>
        <p:spPr/>
        <p:txBody>
          <a:bodyPr/>
          <a:lstStyle/>
          <a:p>
            <a:fld id="{6EC124F2-B461-4993-8DAA-E392A8E68310}" type="datetimeFigureOut">
              <a:rPr lang="en-US" smtClean="0"/>
              <a:t>6/15/2026</a:t>
            </a:fld>
            <a:endParaRPr lang="en-US"/>
          </a:p>
        </p:txBody>
      </p:sp>
      <p:sp>
        <p:nvSpPr>
          <p:cNvPr id="6" name="Footer Placeholder 5">
            <a:extLst>
              <a:ext uri="{FF2B5EF4-FFF2-40B4-BE49-F238E27FC236}">
                <a16:creationId xmlns:a16="http://schemas.microsoft.com/office/drawing/2014/main" id="{2F5F2D39-697F-5276-3077-6BAA8C0041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B68A36-0374-19B7-8139-CB7CE5D9D1BD}"/>
              </a:ext>
            </a:extLst>
          </p:cNvPr>
          <p:cNvSpPr>
            <a:spLocks noGrp="1"/>
          </p:cNvSpPr>
          <p:nvPr>
            <p:ph type="sldNum" sz="quarter" idx="12"/>
          </p:nvPr>
        </p:nvSpPr>
        <p:spPr/>
        <p:txBody>
          <a:bodyPr/>
          <a:lstStyle/>
          <a:p>
            <a:fld id="{9FA19B3E-6694-4471-BB2F-E72CC5650E27}" type="slidenum">
              <a:rPr lang="en-US" smtClean="0"/>
              <a:t>‹#›</a:t>
            </a:fld>
            <a:endParaRPr lang="en-US"/>
          </a:p>
        </p:txBody>
      </p:sp>
    </p:spTree>
    <p:extLst>
      <p:ext uri="{BB962C8B-B14F-4D97-AF65-F5344CB8AC3E}">
        <p14:creationId xmlns:p14="http://schemas.microsoft.com/office/powerpoint/2010/main" val="891636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FCAEF-4720-6C63-54BD-80DAB43422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818B7B-0426-6590-BDD1-35399D8B21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417E12-40C3-1CB6-8541-7B0427411C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0C2761-1F00-9B7C-74F5-5967A1724788}"/>
              </a:ext>
            </a:extLst>
          </p:cNvPr>
          <p:cNvSpPr>
            <a:spLocks noGrp="1"/>
          </p:cNvSpPr>
          <p:nvPr>
            <p:ph type="dt" sz="half" idx="10"/>
          </p:nvPr>
        </p:nvSpPr>
        <p:spPr/>
        <p:txBody>
          <a:bodyPr/>
          <a:lstStyle/>
          <a:p>
            <a:fld id="{6EC124F2-B461-4993-8DAA-E392A8E68310}" type="datetimeFigureOut">
              <a:rPr lang="en-US" smtClean="0"/>
              <a:t>6/15/2026</a:t>
            </a:fld>
            <a:endParaRPr lang="en-US"/>
          </a:p>
        </p:txBody>
      </p:sp>
      <p:sp>
        <p:nvSpPr>
          <p:cNvPr id="6" name="Footer Placeholder 5">
            <a:extLst>
              <a:ext uri="{FF2B5EF4-FFF2-40B4-BE49-F238E27FC236}">
                <a16:creationId xmlns:a16="http://schemas.microsoft.com/office/drawing/2014/main" id="{68653337-BD91-FF64-176C-AD62E5858B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AA430-3A2F-91D9-1DEA-7F6E73818DC0}"/>
              </a:ext>
            </a:extLst>
          </p:cNvPr>
          <p:cNvSpPr>
            <a:spLocks noGrp="1"/>
          </p:cNvSpPr>
          <p:nvPr>
            <p:ph type="sldNum" sz="quarter" idx="12"/>
          </p:nvPr>
        </p:nvSpPr>
        <p:spPr/>
        <p:txBody>
          <a:bodyPr/>
          <a:lstStyle/>
          <a:p>
            <a:fld id="{9FA19B3E-6694-4471-BB2F-E72CC5650E27}" type="slidenum">
              <a:rPr lang="en-US" smtClean="0"/>
              <a:t>‹#›</a:t>
            </a:fld>
            <a:endParaRPr lang="en-US"/>
          </a:p>
        </p:txBody>
      </p:sp>
    </p:spTree>
    <p:extLst>
      <p:ext uri="{BB962C8B-B14F-4D97-AF65-F5344CB8AC3E}">
        <p14:creationId xmlns:p14="http://schemas.microsoft.com/office/powerpoint/2010/main" val="1592561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BAB36-7F86-472C-7B7F-2D248B870D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BEF793-CD08-8487-A6DC-7E66FFE569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9A58AB-8F11-A76B-C046-D933FC365AED}"/>
              </a:ext>
            </a:extLst>
          </p:cNvPr>
          <p:cNvSpPr>
            <a:spLocks noGrp="1"/>
          </p:cNvSpPr>
          <p:nvPr>
            <p:ph type="dt" sz="half" idx="10"/>
          </p:nvPr>
        </p:nvSpPr>
        <p:spPr/>
        <p:txBody>
          <a:bodyPr/>
          <a:lstStyle/>
          <a:p>
            <a:fld id="{6EC124F2-B461-4993-8DAA-E392A8E68310}" type="datetimeFigureOut">
              <a:rPr lang="en-US" smtClean="0"/>
              <a:t>6/15/2026</a:t>
            </a:fld>
            <a:endParaRPr lang="en-US"/>
          </a:p>
        </p:txBody>
      </p:sp>
      <p:sp>
        <p:nvSpPr>
          <p:cNvPr id="5" name="Footer Placeholder 4">
            <a:extLst>
              <a:ext uri="{FF2B5EF4-FFF2-40B4-BE49-F238E27FC236}">
                <a16:creationId xmlns:a16="http://schemas.microsoft.com/office/drawing/2014/main" id="{3A5D53E0-E7E8-583A-088F-6977B20B86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102372-00A1-2547-ABFE-ADD839AAAF5B}"/>
              </a:ext>
            </a:extLst>
          </p:cNvPr>
          <p:cNvSpPr>
            <a:spLocks noGrp="1"/>
          </p:cNvSpPr>
          <p:nvPr>
            <p:ph type="sldNum" sz="quarter" idx="12"/>
          </p:nvPr>
        </p:nvSpPr>
        <p:spPr/>
        <p:txBody>
          <a:bodyPr/>
          <a:lstStyle/>
          <a:p>
            <a:fld id="{9FA19B3E-6694-4471-BB2F-E72CC5650E27}" type="slidenum">
              <a:rPr lang="en-US" smtClean="0"/>
              <a:t>‹#›</a:t>
            </a:fld>
            <a:endParaRPr lang="en-US"/>
          </a:p>
        </p:txBody>
      </p:sp>
    </p:spTree>
    <p:extLst>
      <p:ext uri="{BB962C8B-B14F-4D97-AF65-F5344CB8AC3E}">
        <p14:creationId xmlns:p14="http://schemas.microsoft.com/office/powerpoint/2010/main" val="1690799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21DC8A-6EFF-B657-97AF-0D982500E3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9F3373-B825-EE2E-B94A-57268773AF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FE750B-CA75-0F31-049A-5B9150DE2DD9}"/>
              </a:ext>
            </a:extLst>
          </p:cNvPr>
          <p:cNvSpPr>
            <a:spLocks noGrp="1"/>
          </p:cNvSpPr>
          <p:nvPr>
            <p:ph type="dt" sz="half" idx="10"/>
          </p:nvPr>
        </p:nvSpPr>
        <p:spPr/>
        <p:txBody>
          <a:bodyPr/>
          <a:lstStyle/>
          <a:p>
            <a:fld id="{6EC124F2-B461-4993-8DAA-E392A8E68310}" type="datetimeFigureOut">
              <a:rPr lang="en-US" smtClean="0"/>
              <a:t>6/15/2026</a:t>
            </a:fld>
            <a:endParaRPr lang="en-US"/>
          </a:p>
        </p:txBody>
      </p:sp>
      <p:sp>
        <p:nvSpPr>
          <p:cNvPr id="5" name="Footer Placeholder 4">
            <a:extLst>
              <a:ext uri="{FF2B5EF4-FFF2-40B4-BE49-F238E27FC236}">
                <a16:creationId xmlns:a16="http://schemas.microsoft.com/office/drawing/2014/main" id="{DE41F94B-4413-4BB4-D61C-9ABB9BFBA2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1EF7C1-6794-FB71-B301-3A8AC0AF2EDC}"/>
              </a:ext>
            </a:extLst>
          </p:cNvPr>
          <p:cNvSpPr>
            <a:spLocks noGrp="1"/>
          </p:cNvSpPr>
          <p:nvPr>
            <p:ph type="sldNum" sz="quarter" idx="12"/>
          </p:nvPr>
        </p:nvSpPr>
        <p:spPr/>
        <p:txBody>
          <a:bodyPr/>
          <a:lstStyle/>
          <a:p>
            <a:fld id="{9FA19B3E-6694-4471-BB2F-E72CC5650E27}" type="slidenum">
              <a:rPr lang="en-US" smtClean="0"/>
              <a:t>‹#›</a:t>
            </a:fld>
            <a:endParaRPr lang="en-US"/>
          </a:p>
        </p:txBody>
      </p:sp>
    </p:spTree>
    <p:extLst>
      <p:ext uri="{BB962C8B-B14F-4D97-AF65-F5344CB8AC3E}">
        <p14:creationId xmlns:p14="http://schemas.microsoft.com/office/powerpoint/2010/main" val="2722223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AA0512-A38F-EBCC-626E-B330825DA7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8EAFF7-CC21-78B2-B498-24A56FFA3A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6281AB-E118-EB6D-7B5F-BAE65DB970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C124F2-B461-4993-8DAA-E392A8E68310}" type="datetimeFigureOut">
              <a:rPr lang="en-US" smtClean="0"/>
              <a:t>6/15/2026</a:t>
            </a:fld>
            <a:endParaRPr lang="en-US"/>
          </a:p>
        </p:txBody>
      </p:sp>
      <p:sp>
        <p:nvSpPr>
          <p:cNvPr id="5" name="Footer Placeholder 4">
            <a:extLst>
              <a:ext uri="{FF2B5EF4-FFF2-40B4-BE49-F238E27FC236}">
                <a16:creationId xmlns:a16="http://schemas.microsoft.com/office/drawing/2014/main" id="{D84F2705-EF30-6C6A-1E0E-12CA0178F3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2842FC6-C7BA-090A-CD19-5508F0705F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A19B3E-6694-4471-BB2F-E72CC5650E27}" type="slidenum">
              <a:rPr lang="en-US" smtClean="0"/>
              <a:t>‹#›</a:t>
            </a:fld>
            <a:endParaRPr lang="en-US"/>
          </a:p>
        </p:txBody>
      </p:sp>
    </p:spTree>
    <p:extLst>
      <p:ext uri="{BB962C8B-B14F-4D97-AF65-F5344CB8AC3E}">
        <p14:creationId xmlns:p14="http://schemas.microsoft.com/office/powerpoint/2010/main" val="1433684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FD6C1-910B-B0BB-BF38-A277753C0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33C49-147B-F884-54AE-6DE910C37259}"/>
              </a:ext>
            </a:extLst>
          </p:cNvPr>
          <p:cNvSpPr>
            <a:spLocks noGrp="1"/>
          </p:cNvSpPr>
          <p:nvPr>
            <p:ph type="ctrTitle"/>
          </p:nvPr>
        </p:nvSpPr>
        <p:spPr>
          <a:xfrm>
            <a:off x="1445342" y="188299"/>
            <a:ext cx="9144000" cy="1748656"/>
          </a:xfrm>
        </p:spPr>
        <p:txBody>
          <a:bodyPr>
            <a:normAutofit/>
          </a:bodyPr>
          <a:lstStyle/>
          <a:p>
            <a:r>
              <a:rPr lang="en-US" dirty="0" err="1"/>
              <a:t>Automatisation</a:t>
            </a:r>
            <a:r>
              <a:rPr lang="en-US" dirty="0"/>
              <a:t> du Cycle de Vie des Identités (IAM)</a:t>
            </a:r>
          </a:p>
        </p:txBody>
      </p:sp>
      <p:sp>
        <p:nvSpPr>
          <p:cNvPr id="3" name="Subtitle 2">
            <a:extLst>
              <a:ext uri="{FF2B5EF4-FFF2-40B4-BE49-F238E27FC236}">
                <a16:creationId xmlns:a16="http://schemas.microsoft.com/office/drawing/2014/main" id="{749AE7DB-FF34-E29B-47F8-07EF775150E7}"/>
              </a:ext>
            </a:extLst>
          </p:cNvPr>
          <p:cNvSpPr>
            <a:spLocks noGrp="1"/>
          </p:cNvSpPr>
          <p:nvPr>
            <p:ph type="subTitle" idx="1"/>
          </p:nvPr>
        </p:nvSpPr>
        <p:spPr>
          <a:xfrm>
            <a:off x="1524000" y="2143433"/>
            <a:ext cx="9144000" cy="4237702"/>
          </a:xfrm>
        </p:spPr>
        <p:txBody>
          <a:bodyPr>
            <a:normAutofit fontScale="92500" lnSpcReduction="20000"/>
          </a:bodyPr>
          <a:lstStyle/>
          <a:p>
            <a:pPr algn="l"/>
            <a:r>
              <a:rPr lang="fr-FR" dirty="0"/>
              <a:t>Automatisation du Cycle de Vie des Identités (IAM)</a:t>
            </a:r>
          </a:p>
          <a:p>
            <a:pPr algn="l"/>
            <a:endParaRPr lang="fr-FR" dirty="0"/>
          </a:p>
          <a:p>
            <a:pPr algn="l"/>
            <a:r>
              <a:rPr lang="fr-FR" dirty="0"/>
              <a:t>Preuve de Concept (PoC)</a:t>
            </a:r>
          </a:p>
          <a:p>
            <a:pPr algn="l"/>
            <a:endParaRPr lang="fr-FR" dirty="0"/>
          </a:p>
          <a:p>
            <a:pPr algn="l"/>
            <a:r>
              <a:rPr lang="fr-FR" dirty="0"/>
              <a:t>Secteur de la Santé</a:t>
            </a:r>
          </a:p>
          <a:p>
            <a:pPr algn="l"/>
            <a:endParaRPr lang="fr-FR" dirty="0"/>
          </a:p>
          <a:p>
            <a:pPr algn="l"/>
            <a:r>
              <a:rPr lang="fr-FR" dirty="0"/>
              <a:t>Gestion des Identités et des Accès</a:t>
            </a:r>
          </a:p>
          <a:p>
            <a:pPr algn="l"/>
            <a:r>
              <a:rPr lang="fr-FR" dirty="0"/>
              <a:t>Joiner • Mover • Leaver • RBAC • Gouvernance</a:t>
            </a:r>
          </a:p>
          <a:p>
            <a:pPr algn="l"/>
            <a:endParaRPr lang="fr-FR" dirty="0"/>
          </a:p>
          <a:p>
            <a:pPr algn="l"/>
            <a:r>
              <a:rPr lang="fr-FR" dirty="0"/>
              <a:t>Présenté par</a:t>
            </a:r>
          </a:p>
          <a:p>
            <a:pPr algn="l"/>
            <a:r>
              <a:rPr lang="fr-FR" dirty="0"/>
              <a:t>Gervais Francis Kangaya</a:t>
            </a:r>
            <a:endParaRPr lang="en-US" dirty="0"/>
          </a:p>
        </p:txBody>
      </p:sp>
    </p:spTree>
    <p:extLst>
      <p:ext uri="{BB962C8B-B14F-4D97-AF65-F5344CB8AC3E}">
        <p14:creationId xmlns:p14="http://schemas.microsoft.com/office/powerpoint/2010/main" val="138673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8AEA7-7509-F111-B704-0A8955FBA39B}"/>
              </a:ext>
            </a:extLst>
          </p:cNvPr>
          <p:cNvSpPr>
            <a:spLocks noGrp="1"/>
          </p:cNvSpPr>
          <p:nvPr>
            <p:ph type="ctrTitle"/>
          </p:nvPr>
        </p:nvSpPr>
        <p:spPr>
          <a:xfrm>
            <a:off x="1524000" y="406400"/>
            <a:ext cx="9144000" cy="950452"/>
          </a:xfrm>
        </p:spPr>
        <p:txBody>
          <a:bodyPr/>
          <a:lstStyle/>
          <a:p>
            <a:r>
              <a:rPr lang="en-US" dirty="0" err="1"/>
              <a:t>Défis</a:t>
            </a:r>
            <a:r>
              <a:rPr lang="en-US" dirty="0"/>
              <a:t> Métier</a:t>
            </a:r>
          </a:p>
        </p:txBody>
      </p:sp>
      <p:sp>
        <p:nvSpPr>
          <p:cNvPr id="3" name="Subtitle 2">
            <a:extLst>
              <a:ext uri="{FF2B5EF4-FFF2-40B4-BE49-F238E27FC236}">
                <a16:creationId xmlns:a16="http://schemas.microsoft.com/office/drawing/2014/main" id="{6B25A04E-17DD-3B68-1208-602956B4833B}"/>
              </a:ext>
            </a:extLst>
          </p:cNvPr>
          <p:cNvSpPr>
            <a:spLocks noGrp="1"/>
          </p:cNvSpPr>
          <p:nvPr>
            <p:ph type="subTitle" idx="1"/>
          </p:nvPr>
        </p:nvSpPr>
        <p:spPr>
          <a:xfrm>
            <a:off x="1524000" y="1543665"/>
            <a:ext cx="9144000" cy="4109883"/>
          </a:xfrm>
        </p:spPr>
        <p:txBody>
          <a:bodyPr>
            <a:normAutofit fontScale="92500" lnSpcReduction="10000"/>
          </a:bodyPr>
          <a:lstStyle/>
          <a:p>
            <a:pPr algn="l"/>
            <a:r>
              <a:rPr lang="fr-FR" dirty="0"/>
              <a:t>Les établissements de santé font face à plusieurs défis :</a:t>
            </a:r>
          </a:p>
          <a:p>
            <a:pPr algn="l"/>
            <a:endParaRPr lang="fr-FR" dirty="0"/>
          </a:p>
          <a:p>
            <a:pPr algn="l"/>
            <a:r>
              <a:rPr lang="fr-FR" dirty="0"/>
              <a:t>• Création manuelle des comptes</a:t>
            </a:r>
          </a:p>
          <a:p>
            <a:pPr algn="l"/>
            <a:r>
              <a:rPr lang="fr-FR" dirty="0"/>
              <a:t>• Attribution tardive des accès</a:t>
            </a:r>
          </a:p>
          <a:p>
            <a:pPr algn="l"/>
            <a:r>
              <a:rPr lang="fr-FR" dirty="0"/>
              <a:t>• Permissions excessives</a:t>
            </a:r>
          </a:p>
          <a:p>
            <a:pPr algn="l"/>
            <a:r>
              <a:rPr lang="fr-FR" dirty="0"/>
              <a:t>• Comptes orphelins après le départ d'employés</a:t>
            </a:r>
          </a:p>
          <a:p>
            <a:pPr algn="l"/>
            <a:r>
              <a:rPr lang="fr-FR" dirty="0"/>
              <a:t>• Difficultés d'audit et de conformité</a:t>
            </a:r>
          </a:p>
          <a:p>
            <a:pPr algn="l"/>
            <a:r>
              <a:rPr lang="fr-FR" dirty="0"/>
              <a:t>• Risques d'erreurs humaines</a:t>
            </a:r>
          </a:p>
          <a:p>
            <a:pPr algn="l"/>
            <a:endParaRPr lang="fr-FR" dirty="0"/>
          </a:p>
          <a:p>
            <a:pPr algn="l"/>
            <a:r>
              <a:rPr lang="fr-FR" dirty="0"/>
              <a:t>Ces défis augmentent les risques de sécurité et les coûts opérationnels.</a:t>
            </a:r>
            <a:endParaRPr lang="en-US" dirty="0"/>
          </a:p>
        </p:txBody>
      </p:sp>
    </p:spTree>
    <p:extLst>
      <p:ext uri="{BB962C8B-B14F-4D97-AF65-F5344CB8AC3E}">
        <p14:creationId xmlns:p14="http://schemas.microsoft.com/office/powerpoint/2010/main" val="3377813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66DB36-33CA-6B6B-73C2-EB3E2E6AE9A8}"/>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DF91F20-B96F-4F77-AC3E-2CDD3BAA1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3D487F7-9050-4871-B351-34A72ADB2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4" y="-1"/>
            <a:ext cx="8111296"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43C27DD-EF6A-4C48-9669-C2970E71A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858281" y="-401562"/>
            <a:ext cx="6858004" cy="7661129"/>
          </a:xfrm>
          <a:prstGeom prst="rect">
            <a:avLst/>
          </a:prstGeom>
          <a:gradFill>
            <a:gsLst>
              <a:gs pos="0">
                <a:schemeClr val="accent1">
                  <a:alpha val="23000"/>
                </a:schemeClr>
              </a:gs>
              <a:gs pos="71000">
                <a:schemeClr val="accent1">
                  <a:lumMod val="50000"/>
                  <a:alpha val="0"/>
                </a:schemeClr>
              </a:gs>
              <a:gs pos="100000">
                <a:srgbClr val="000000">
                  <a:alpha val="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C84384FE-1C88-4CAA-8FB8-2313A3AE7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519" y="-1"/>
            <a:ext cx="8118331" cy="6858000"/>
          </a:xfrm>
          <a:prstGeom prst="rect">
            <a:avLst/>
          </a:prstGeom>
          <a:gradFill>
            <a:gsLst>
              <a:gs pos="14000">
                <a:schemeClr val="accent1">
                  <a:alpha val="0"/>
                </a:schemeClr>
              </a:gs>
              <a:gs pos="100000">
                <a:srgbClr val="000000">
                  <a:alpha val="82000"/>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87B6A113-58CD-406C-BCE4-6E1F1F2B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449520">
            <a:off x="2569700" y="983306"/>
            <a:ext cx="5005754" cy="5005754"/>
          </a:xfrm>
          <a:prstGeom prst="ellipse">
            <a:avLst/>
          </a:prstGeom>
          <a:gradFill>
            <a:gsLst>
              <a:gs pos="17000">
                <a:schemeClr val="accent1">
                  <a:lumMod val="75000"/>
                  <a:alpha val="0"/>
                </a:schemeClr>
              </a:gs>
              <a:gs pos="82000">
                <a:srgbClr val="000000">
                  <a:alpha val="24000"/>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90FF9F4-42B1-FBAC-20F2-61BF71051E67}"/>
              </a:ext>
            </a:extLst>
          </p:cNvPr>
          <p:cNvSpPr>
            <a:spLocks noGrp="1"/>
          </p:cNvSpPr>
          <p:nvPr>
            <p:ph type="ctrTitle"/>
          </p:nvPr>
        </p:nvSpPr>
        <p:spPr>
          <a:xfrm>
            <a:off x="1011948" y="857251"/>
            <a:ext cx="6219582" cy="3160113"/>
          </a:xfrm>
        </p:spPr>
        <p:txBody>
          <a:bodyPr anchor="b">
            <a:normAutofit/>
          </a:bodyPr>
          <a:lstStyle/>
          <a:p>
            <a:pPr algn="l"/>
            <a:r>
              <a:rPr lang="en-US" sz="4800">
                <a:solidFill>
                  <a:srgbClr val="FFFFFF"/>
                </a:solidFill>
              </a:rPr>
              <a:t>Vue d’Ensemble de la Solution</a:t>
            </a:r>
          </a:p>
        </p:txBody>
      </p:sp>
      <p:sp>
        <p:nvSpPr>
          <p:cNvPr id="35" name="Rectangle 34">
            <a:extLst>
              <a:ext uri="{FF2B5EF4-FFF2-40B4-BE49-F238E27FC236}">
                <a16:creationId xmlns:a16="http://schemas.microsoft.com/office/drawing/2014/main" id="{05A1AA86-B7E6-4C02-AA34-F1A25CD4C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518" y="4354178"/>
            <a:ext cx="8118330" cy="2503817"/>
          </a:xfrm>
          <a:prstGeom prst="rect">
            <a:avLst/>
          </a:prstGeom>
          <a:gradFill>
            <a:gsLst>
              <a:gs pos="0">
                <a:schemeClr val="accent1">
                  <a:lumMod val="75000"/>
                  <a:alpha val="33000"/>
                </a:schemeClr>
              </a:gs>
              <a:gs pos="83000">
                <a:srgbClr val="000000">
                  <a:alpha val="21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4767D998-7D07-7EC4-699F-EB1AB3575100}"/>
              </a:ext>
            </a:extLst>
          </p:cNvPr>
          <p:cNvPicPr>
            <a:picLocks noChangeAspect="1"/>
          </p:cNvPicPr>
          <p:nvPr/>
        </p:nvPicPr>
        <p:blipFill>
          <a:blip r:embed="rId3"/>
          <a:stretch>
            <a:fillRect/>
          </a:stretch>
        </p:blipFill>
        <p:spPr>
          <a:xfrm>
            <a:off x="8560981" y="905373"/>
            <a:ext cx="3173819" cy="5047254"/>
          </a:xfrm>
          <a:prstGeom prst="rect">
            <a:avLst/>
          </a:prstGeom>
        </p:spPr>
      </p:pic>
    </p:spTree>
    <p:extLst>
      <p:ext uri="{BB962C8B-B14F-4D97-AF65-F5344CB8AC3E}">
        <p14:creationId xmlns:p14="http://schemas.microsoft.com/office/powerpoint/2010/main" val="2287252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A31B07-FEDF-8094-A1BB-931D801D1C9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55C5EC-BD62-8D6B-F1C4-8AEA6E38949B}"/>
              </a:ext>
            </a:extLst>
          </p:cNvPr>
          <p:cNvSpPr>
            <a:spLocks noGrp="1"/>
          </p:cNvSpPr>
          <p:nvPr>
            <p:ph type="ctrTitle"/>
          </p:nvPr>
        </p:nvSpPr>
        <p:spPr>
          <a:xfrm>
            <a:off x="699713" y="248038"/>
            <a:ext cx="7063721" cy="1159200"/>
          </a:xfrm>
        </p:spPr>
        <p:txBody>
          <a:bodyPr anchor="ctr">
            <a:normAutofit/>
          </a:bodyPr>
          <a:lstStyle/>
          <a:p>
            <a:pPr algn="l"/>
            <a:r>
              <a:rPr lang="en-US" sz="4000">
                <a:solidFill>
                  <a:srgbClr val="FFFFFF"/>
                </a:solidFill>
              </a:rPr>
              <a:t>Local MVP Architecture</a:t>
            </a:r>
          </a:p>
        </p:txBody>
      </p:sp>
      <p:sp>
        <p:nvSpPr>
          <p:cNvPr id="3" name="Subtitle 2">
            <a:extLst>
              <a:ext uri="{FF2B5EF4-FFF2-40B4-BE49-F238E27FC236}">
                <a16:creationId xmlns:a16="http://schemas.microsoft.com/office/drawing/2014/main" id="{0F99365E-07E3-42C0-7A67-BBAE846CFBC6}"/>
              </a:ext>
            </a:extLst>
          </p:cNvPr>
          <p:cNvSpPr>
            <a:spLocks noGrp="1"/>
          </p:cNvSpPr>
          <p:nvPr>
            <p:ph type="subTitle" idx="1"/>
          </p:nvPr>
        </p:nvSpPr>
        <p:spPr>
          <a:xfrm>
            <a:off x="8572499" y="390832"/>
            <a:ext cx="3233585" cy="873612"/>
          </a:xfrm>
        </p:spPr>
        <p:txBody>
          <a:bodyPr anchor="ctr">
            <a:normAutofit/>
          </a:bodyPr>
          <a:lstStyle/>
          <a:p>
            <a:pPr algn="l"/>
            <a:endParaRPr lang="en-US" sz="2000" dirty="0">
              <a:solidFill>
                <a:srgbClr val="FFFFFF"/>
              </a:solidFill>
            </a:endParaRPr>
          </a:p>
        </p:txBody>
      </p:sp>
      <p:pic>
        <p:nvPicPr>
          <p:cNvPr id="5" name="Picture 4">
            <a:extLst>
              <a:ext uri="{FF2B5EF4-FFF2-40B4-BE49-F238E27FC236}">
                <a16:creationId xmlns:a16="http://schemas.microsoft.com/office/drawing/2014/main" id="{AFCA4B0F-95E7-A1C4-A95C-03FF85695A7A}"/>
              </a:ext>
            </a:extLst>
          </p:cNvPr>
          <p:cNvPicPr>
            <a:picLocks noChangeAspect="1"/>
          </p:cNvPicPr>
          <p:nvPr/>
        </p:nvPicPr>
        <p:blipFill>
          <a:blip r:embed="rId3"/>
          <a:stretch>
            <a:fillRect/>
          </a:stretch>
        </p:blipFill>
        <p:spPr>
          <a:xfrm>
            <a:off x="478535" y="1973342"/>
            <a:ext cx="11327549" cy="4417742"/>
          </a:xfrm>
          <a:prstGeom prst="rect">
            <a:avLst/>
          </a:prstGeom>
        </p:spPr>
      </p:pic>
    </p:spTree>
    <p:extLst>
      <p:ext uri="{BB962C8B-B14F-4D97-AF65-F5344CB8AC3E}">
        <p14:creationId xmlns:p14="http://schemas.microsoft.com/office/powerpoint/2010/main" val="181431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C6840E-61A4-79EC-4576-E20FA440EC1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2958DF8-3FA7-B527-C0B7-2E9974914535}"/>
              </a:ext>
            </a:extLst>
          </p:cNvPr>
          <p:cNvSpPr>
            <a:spLocks noGrp="1"/>
          </p:cNvSpPr>
          <p:nvPr>
            <p:ph type="ctrTitle"/>
          </p:nvPr>
        </p:nvSpPr>
        <p:spPr>
          <a:xfrm>
            <a:off x="112734" y="2767106"/>
            <a:ext cx="3695178" cy="2481299"/>
          </a:xfrm>
        </p:spPr>
        <p:txBody>
          <a:bodyPr anchor="t">
            <a:normAutofit/>
          </a:bodyPr>
          <a:lstStyle/>
          <a:p>
            <a:pPr algn="l"/>
            <a:r>
              <a:rPr lang="en-US" sz="4000" dirty="0">
                <a:solidFill>
                  <a:srgbClr val="FFFFFF"/>
                </a:solidFill>
              </a:rPr>
              <a:t>Joiner Workflow</a:t>
            </a:r>
            <a:br>
              <a:rPr lang="en-US" sz="4000" dirty="0">
                <a:solidFill>
                  <a:srgbClr val="FFFFFF"/>
                </a:solidFill>
              </a:rPr>
            </a:br>
            <a:br>
              <a:rPr lang="en-US" sz="4000" dirty="0">
                <a:solidFill>
                  <a:srgbClr val="FFFFFF"/>
                </a:solidFill>
              </a:rPr>
            </a:br>
            <a:r>
              <a:rPr lang="en-US" sz="4000" dirty="0">
                <a:solidFill>
                  <a:srgbClr val="FFFFFF"/>
                </a:solidFill>
              </a:rPr>
              <a:t>: </a:t>
            </a:r>
            <a:r>
              <a:rPr lang="en-US" sz="4000" dirty="0" err="1">
                <a:solidFill>
                  <a:srgbClr val="FFFFFF"/>
                </a:solidFill>
              </a:rPr>
              <a:t>Arrivées</a:t>
            </a:r>
            <a:r>
              <a:rPr lang="en-US" sz="4000" dirty="0">
                <a:solidFill>
                  <a:srgbClr val="FFFFFF"/>
                </a:solidFill>
              </a:rPr>
              <a:t> des </a:t>
            </a:r>
            <a:r>
              <a:rPr lang="en-US" sz="4000" dirty="0" err="1">
                <a:solidFill>
                  <a:srgbClr val="FFFFFF"/>
                </a:solidFill>
              </a:rPr>
              <a:t>employés</a:t>
            </a:r>
            <a:endParaRPr lang="en-US" sz="4000" dirty="0">
              <a:solidFill>
                <a:srgbClr val="FFFFFF"/>
              </a:solidFill>
            </a:endParaRPr>
          </a:p>
        </p:txBody>
      </p:sp>
      <p:sp>
        <p:nvSpPr>
          <p:cNvPr id="3" name="Subtitle 2">
            <a:extLst>
              <a:ext uri="{FF2B5EF4-FFF2-40B4-BE49-F238E27FC236}">
                <a16:creationId xmlns:a16="http://schemas.microsoft.com/office/drawing/2014/main" id="{42FB810B-773C-56BE-DE24-F588482D3D1D}"/>
              </a:ext>
            </a:extLst>
          </p:cNvPr>
          <p:cNvSpPr>
            <a:spLocks noGrp="1"/>
          </p:cNvSpPr>
          <p:nvPr>
            <p:ph type="subTitle" idx="1"/>
          </p:nvPr>
        </p:nvSpPr>
        <p:spPr>
          <a:xfrm>
            <a:off x="660042" y="806824"/>
            <a:ext cx="2919738" cy="1494117"/>
          </a:xfrm>
        </p:spPr>
        <p:txBody>
          <a:bodyPr anchor="b">
            <a:normAutofit/>
          </a:bodyPr>
          <a:lstStyle/>
          <a:p>
            <a:pPr algn="l"/>
            <a:endParaRPr lang="en-US" sz="2000">
              <a:solidFill>
                <a:srgbClr val="FFFFFF"/>
              </a:solidFill>
            </a:endParaRPr>
          </a:p>
        </p:txBody>
      </p:sp>
      <p:pic>
        <p:nvPicPr>
          <p:cNvPr id="5" name="Picture 4">
            <a:extLst>
              <a:ext uri="{FF2B5EF4-FFF2-40B4-BE49-F238E27FC236}">
                <a16:creationId xmlns:a16="http://schemas.microsoft.com/office/drawing/2014/main" id="{CD11E1C4-AE5B-4383-9430-6AC32492D84A}"/>
              </a:ext>
            </a:extLst>
          </p:cNvPr>
          <p:cNvPicPr>
            <a:picLocks noChangeAspect="1"/>
          </p:cNvPicPr>
          <p:nvPr/>
        </p:nvPicPr>
        <p:blipFill>
          <a:blip r:embed="rId3"/>
          <a:stretch>
            <a:fillRect/>
          </a:stretch>
        </p:blipFill>
        <p:spPr>
          <a:xfrm>
            <a:off x="4870988" y="274084"/>
            <a:ext cx="6125258" cy="6431515"/>
          </a:xfrm>
          <a:prstGeom prst="rect">
            <a:avLst/>
          </a:prstGeom>
        </p:spPr>
      </p:pic>
    </p:spTree>
    <p:extLst>
      <p:ext uri="{BB962C8B-B14F-4D97-AF65-F5344CB8AC3E}">
        <p14:creationId xmlns:p14="http://schemas.microsoft.com/office/powerpoint/2010/main" val="1482376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1FEB4E-CF6E-D015-38CC-16F47749656B}"/>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E38D403-1F08-8657-138A-3C1C500B41F7}"/>
              </a:ext>
            </a:extLst>
          </p:cNvPr>
          <p:cNvSpPr>
            <a:spLocks noGrp="1"/>
          </p:cNvSpPr>
          <p:nvPr>
            <p:ph type="ctrTitle"/>
          </p:nvPr>
        </p:nvSpPr>
        <p:spPr>
          <a:xfrm>
            <a:off x="175364" y="2767106"/>
            <a:ext cx="3757809" cy="3071906"/>
          </a:xfrm>
        </p:spPr>
        <p:txBody>
          <a:bodyPr anchor="t">
            <a:normAutofit/>
          </a:bodyPr>
          <a:lstStyle/>
          <a:p>
            <a:pPr algn="l"/>
            <a:r>
              <a:rPr lang="en-US" sz="4000" dirty="0">
                <a:solidFill>
                  <a:srgbClr val="FFFFFF"/>
                </a:solidFill>
              </a:rPr>
              <a:t>Mover Workflow:</a:t>
            </a:r>
            <a:br>
              <a:rPr lang="en-US" sz="4000" dirty="0">
                <a:solidFill>
                  <a:srgbClr val="FFFFFF"/>
                </a:solidFill>
              </a:rPr>
            </a:br>
            <a:br>
              <a:rPr lang="en-US" sz="4000" dirty="0">
                <a:solidFill>
                  <a:srgbClr val="FFFFFF"/>
                </a:solidFill>
              </a:rPr>
            </a:br>
            <a:r>
              <a:rPr lang="en-US" sz="4000" dirty="0">
                <a:solidFill>
                  <a:srgbClr val="FFFFFF"/>
                </a:solidFill>
              </a:rPr>
              <a:t>changement de poste </a:t>
            </a:r>
            <a:r>
              <a:rPr lang="en-US" sz="4000" dirty="0" err="1">
                <a:solidFill>
                  <a:srgbClr val="FFFFFF"/>
                </a:solidFill>
              </a:rPr>
              <a:t>ou</a:t>
            </a:r>
            <a:r>
              <a:rPr lang="en-US" sz="4000" dirty="0">
                <a:solidFill>
                  <a:srgbClr val="FFFFFF"/>
                </a:solidFill>
              </a:rPr>
              <a:t> </a:t>
            </a:r>
            <a:r>
              <a:rPr lang="en-US" sz="4000" dirty="0" err="1">
                <a:solidFill>
                  <a:srgbClr val="FFFFFF"/>
                </a:solidFill>
              </a:rPr>
              <a:t>mobilité</a:t>
            </a:r>
            <a:r>
              <a:rPr lang="en-US" sz="4000" dirty="0">
                <a:solidFill>
                  <a:srgbClr val="FFFFFF"/>
                </a:solidFill>
              </a:rPr>
              <a:t> interne</a:t>
            </a:r>
          </a:p>
        </p:txBody>
      </p:sp>
      <p:sp>
        <p:nvSpPr>
          <p:cNvPr id="3" name="Subtitle 2">
            <a:extLst>
              <a:ext uri="{FF2B5EF4-FFF2-40B4-BE49-F238E27FC236}">
                <a16:creationId xmlns:a16="http://schemas.microsoft.com/office/drawing/2014/main" id="{84468651-2CC9-2E73-7D8A-D548EA6F0F2F}"/>
              </a:ext>
            </a:extLst>
          </p:cNvPr>
          <p:cNvSpPr>
            <a:spLocks noGrp="1"/>
          </p:cNvSpPr>
          <p:nvPr>
            <p:ph type="subTitle" idx="1"/>
          </p:nvPr>
        </p:nvSpPr>
        <p:spPr>
          <a:xfrm>
            <a:off x="660042" y="806824"/>
            <a:ext cx="2919738" cy="1494117"/>
          </a:xfrm>
        </p:spPr>
        <p:txBody>
          <a:bodyPr anchor="b">
            <a:normAutofit/>
          </a:bodyPr>
          <a:lstStyle/>
          <a:p>
            <a:pPr algn="l"/>
            <a:endParaRPr lang="en-US" sz="2000">
              <a:solidFill>
                <a:srgbClr val="FFFFFF"/>
              </a:solidFill>
            </a:endParaRPr>
          </a:p>
        </p:txBody>
      </p:sp>
      <p:pic>
        <p:nvPicPr>
          <p:cNvPr id="5" name="Picture 4">
            <a:extLst>
              <a:ext uri="{FF2B5EF4-FFF2-40B4-BE49-F238E27FC236}">
                <a16:creationId xmlns:a16="http://schemas.microsoft.com/office/drawing/2014/main" id="{389B2645-F115-7204-8A61-26EE0B28DC15}"/>
              </a:ext>
            </a:extLst>
          </p:cNvPr>
          <p:cNvPicPr>
            <a:picLocks noChangeAspect="1"/>
          </p:cNvPicPr>
          <p:nvPr/>
        </p:nvPicPr>
        <p:blipFill>
          <a:blip r:embed="rId3"/>
          <a:stretch>
            <a:fillRect/>
          </a:stretch>
        </p:blipFill>
        <p:spPr>
          <a:xfrm>
            <a:off x="5156965" y="-18881"/>
            <a:ext cx="5569650" cy="6894700"/>
          </a:xfrm>
          <a:prstGeom prst="rect">
            <a:avLst/>
          </a:prstGeom>
        </p:spPr>
      </p:pic>
    </p:spTree>
    <p:extLst>
      <p:ext uri="{BB962C8B-B14F-4D97-AF65-F5344CB8AC3E}">
        <p14:creationId xmlns:p14="http://schemas.microsoft.com/office/powerpoint/2010/main" val="2467950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B23413-D518-1B48-2CDF-8A36B25F17C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E2D57C3-60FB-8AE0-E2DB-40F6A6914AEF}"/>
              </a:ext>
            </a:extLst>
          </p:cNvPr>
          <p:cNvSpPr>
            <a:spLocks noGrp="1"/>
          </p:cNvSpPr>
          <p:nvPr>
            <p:ph type="ctrTitle"/>
          </p:nvPr>
        </p:nvSpPr>
        <p:spPr>
          <a:xfrm>
            <a:off x="660041" y="2767106"/>
            <a:ext cx="2880828" cy="3071906"/>
          </a:xfrm>
        </p:spPr>
        <p:txBody>
          <a:bodyPr anchor="t">
            <a:normAutofit/>
          </a:bodyPr>
          <a:lstStyle/>
          <a:p>
            <a:pPr algn="l"/>
            <a:r>
              <a:rPr lang="en-US" sz="4000" dirty="0">
                <a:solidFill>
                  <a:srgbClr val="FFFFFF"/>
                </a:solidFill>
              </a:rPr>
              <a:t>Leaver Workflow</a:t>
            </a:r>
            <a:br>
              <a:rPr lang="en-US" sz="4000" dirty="0">
                <a:solidFill>
                  <a:srgbClr val="FFFFFF"/>
                </a:solidFill>
              </a:rPr>
            </a:br>
            <a:br>
              <a:rPr lang="en-US" sz="4000" dirty="0">
                <a:solidFill>
                  <a:srgbClr val="FFFFFF"/>
                </a:solidFill>
              </a:rPr>
            </a:br>
            <a:r>
              <a:rPr lang="en-US" sz="4000" dirty="0" err="1">
                <a:solidFill>
                  <a:srgbClr val="FFFFFF"/>
                </a:solidFill>
              </a:rPr>
              <a:t>Départ</a:t>
            </a:r>
            <a:r>
              <a:rPr lang="en-US" sz="4000" dirty="0">
                <a:solidFill>
                  <a:srgbClr val="FFFFFF"/>
                </a:solidFill>
              </a:rPr>
              <a:t> des </a:t>
            </a:r>
            <a:r>
              <a:rPr lang="en-US" sz="4000" dirty="0" err="1">
                <a:solidFill>
                  <a:srgbClr val="FFFFFF"/>
                </a:solidFill>
              </a:rPr>
              <a:t>employés</a:t>
            </a:r>
            <a:endParaRPr lang="en-US" sz="4000" dirty="0">
              <a:solidFill>
                <a:srgbClr val="FFFFFF"/>
              </a:solidFill>
            </a:endParaRPr>
          </a:p>
        </p:txBody>
      </p:sp>
      <p:sp>
        <p:nvSpPr>
          <p:cNvPr id="3" name="Subtitle 2">
            <a:extLst>
              <a:ext uri="{FF2B5EF4-FFF2-40B4-BE49-F238E27FC236}">
                <a16:creationId xmlns:a16="http://schemas.microsoft.com/office/drawing/2014/main" id="{81CC693F-9D23-90AA-0F89-63EB20C505AC}"/>
              </a:ext>
            </a:extLst>
          </p:cNvPr>
          <p:cNvSpPr>
            <a:spLocks noGrp="1"/>
          </p:cNvSpPr>
          <p:nvPr>
            <p:ph type="subTitle" idx="1"/>
          </p:nvPr>
        </p:nvSpPr>
        <p:spPr>
          <a:xfrm>
            <a:off x="660042" y="806824"/>
            <a:ext cx="2919738" cy="1494117"/>
          </a:xfrm>
        </p:spPr>
        <p:txBody>
          <a:bodyPr anchor="b">
            <a:normAutofit/>
          </a:bodyPr>
          <a:lstStyle/>
          <a:p>
            <a:pPr algn="l"/>
            <a:endParaRPr lang="en-US" sz="2000">
              <a:solidFill>
                <a:srgbClr val="FFFFFF"/>
              </a:solidFill>
            </a:endParaRPr>
          </a:p>
        </p:txBody>
      </p:sp>
      <p:pic>
        <p:nvPicPr>
          <p:cNvPr id="5" name="Picture 4">
            <a:extLst>
              <a:ext uri="{FF2B5EF4-FFF2-40B4-BE49-F238E27FC236}">
                <a16:creationId xmlns:a16="http://schemas.microsoft.com/office/drawing/2014/main" id="{03B9D63C-08E3-D2CC-4E9A-E5028718A87E}"/>
              </a:ext>
            </a:extLst>
          </p:cNvPr>
          <p:cNvPicPr>
            <a:picLocks noChangeAspect="1"/>
          </p:cNvPicPr>
          <p:nvPr/>
        </p:nvPicPr>
        <p:blipFill>
          <a:blip r:embed="rId3"/>
          <a:stretch>
            <a:fillRect/>
          </a:stretch>
        </p:blipFill>
        <p:spPr>
          <a:xfrm>
            <a:off x="5953760" y="91440"/>
            <a:ext cx="4368800" cy="6583680"/>
          </a:xfrm>
          <a:prstGeom prst="rect">
            <a:avLst/>
          </a:prstGeom>
        </p:spPr>
      </p:pic>
    </p:spTree>
    <p:extLst>
      <p:ext uri="{BB962C8B-B14F-4D97-AF65-F5344CB8AC3E}">
        <p14:creationId xmlns:p14="http://schemas.microsoft.com/office/powerpoint/2010/main" val="2870257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342E6F-447A-B870-8447-8EAA06EC5F2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F78AAB-EAAE-0BB9-8B22-86F99FC0694B}"/>
              </a:ext>
            </a:extLst>
          </p:cNvPr>
          <p:cNvSpPr>
            <a:spLocks noGrp="1"/>
          </p:cNvSpPr>
          <p:nvPr>
            <p:ph type="ctrTitle"/>
          </p:nvPr>
        </p:nvSpPr>
        <p:spPr>
          <a:xfrm>
            <a:off x="640080" y="320040"/>
            <a:ext cx="6692827" cy="3892669"/>
          </a:xfrm>
        </p:spPr>
        <p:txBody>
          <a:bodyPr>
            <a:normAutofit/>
          </a:bodyPr>
          <a:lstStyle/>
          <a:p>
            <a:pPr algn="l"/>
            <a:r>
              <a:rPr lang="en-US" sz="6600"/>
              <a:t>Contrôle d’Accès Basé sur les Rôles (RBAC)</a:t>
            </a:r>
          </a:p>
        </p:txBody>
      </p:sp>
      <p:sp>
        <p:nvSpPr>
          <p:cNvPr id="3" name="Subtitle 2">
            <a:extLst>
              <a:ext uri="{FF2B5EF4-FFF2-40B4-BE49-F238E27FC236}">
                <a16:creationId xmlns:a16="http://schemas.microsoft.com/office/drawing/2014/main" id="{7CCD6606-A33B-614D-954B-36C549363296}"/>
              </a:ext>
            </a:extLst>
          </p:cNvPr>
          <p:cNvSpPr>
            <a:spLocks noGrp="1"/>
          </p:cNvSpPr>
          <p:nvPr>
            <p:ph type="subTitle" idx="1"/>
          </p:nvPr>
        </p:nvSpPr>
        <p:spPr>
          <a:xfrm>
            <a:off x="640080" y="4532750"/>
            <a:ext cx="6692827" cy="2005210"/>
          </a:xfrm>
        </p:spPr>
        <p:txBody>
          <a:bodyPr>
            <a:normAutofit fontScale="70000" lnSpcReduction="20000"/>
          </a:bodyPr>
          <a:lstStyle/>
          <a:p>
            <a:pPr algn="l"/>
            <a:r>
              <a:rPr lang="fr-FR" dirty="0"/>
              <a:t>Les accès sont attribués automatiquement selon les responsabilités du poste.</a:t>
            </a:r>
          </a:p>
          <a:p>
            <a:pPr algn="l"/>
            <a:endParaRPr lang="fr-FR" dirty="0"/>
          </a:p>
          <a:p>
            <a:pPr algn="l"/>
            <a:r>
              <a:rPr lang="fr-FR" dirty="0"/>
              <a:t>Principe du moindre privilège</a:t>
            </a:r>
          </a:p>
          <a:p>
            <a:pPr algn="l"/>
            <a:endParaRPr lang="fr-FR" dirty="0"/>
          </a:p>
          <a:p>
            <a:pPr algn="l"/>
            <a:r>
              <a:rPr lang="fr-FR" dirty="0"/>
              <a:t>Chaque employé reçoit uniquement les accès nécessaires à l'exercice de ses fonctions.</a:t>
            </a:r>
            <a:endParaRPr lang="en-US" dirty="0"/>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CFC62470-5539-2F14-D8B2-CF2BC4C0094C}"/>
              </a:ext>
            </a:extLst>
          </p:cNvPr>
          <p:cNvGraphicFramePr>
            <a:graphicFrameLocks noGrp="1"/>
          </p:cNvGraphicFramePr>
          <p:nvPr>
            <p:extLst>
              <p:ext uri="{D42A27DB-BD31-4B8C-83A1-F6EECF244321}">
                <p14:modId xmlns:p14="http://schemas.microsoft.com/office/powerpoint/2010/main" val="3194775741"/>
              </p:ext>
            </p:extLst>
          </p:nvPr>
        </p:nvGraphicFramePr>
        <p:xfrm>
          <a:off x="7781544" y="1550456"/>
          <a:ext cx="4087369" cy="3520618"/>
        </p:xfrm>
        <a:graphic>
          <a:graphicData uri="http://schemas.openxmlformats.org/drawingml/2006/table">
            <a:tbl>
              <a:tblPr>
                <a:solidFill>
                  <a:schemeClr val="bg1"/>
                </a:solidFill>
              </a:tblPr>
              <a:tblGrid>
                <a:gridCol w="1375515">
                  <a:extLst>
                    <a:ext uri="{9D8B030D-6E8A-4147-A177-3AD203B41FA5}">
                      <a16:colId xmlns:a16="http://schemas.microsoft.com/office/drawing/2014/main" val="2595530736"/>
                    </a:ext>
                  </a:extLst>
                </a:gridCol>
                <a:gridCol w="2711854">
                  <a:extLst>
                    <a:ext uri="{9D8B030D-6E8A-4147-A177-3AD203B41FA5}">
                      <a16:colId xmlns:a16="http://schemas.microsoft.com/office/drawing/2014/main" val="1755134806"/>
                    </a:ext>
                  </a:extLst>
                </a:gridCol>
              </a:tblGrid>
              <a:tr h="415913">
                <a:tc>
                  <a:txBody>
                    <a:bodyPr/>
                    <a:lstStyle/>
                    <a:p>
                      <a:pPr>
                        <a:buNone/>
                      </a:pPr>
                      <a:r>
                        <a:rPr lang="en-US" sz="1300" cap="none" spc="0">
                          <a:solidFill>
                            <a:schemeClr val="tx1"/>
                          </a:solidFill>
                        </a:rPr>
                        <a:t>Rôle</a:t>
                      </a:r>
                    </a:p>
                  </a:txBody>
                  <a:tcPr marL="114230" marR="87869" marT="87869" marB="87869"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rPr>
                        <a:t>Groupes attribués</a:t>
                      </a:r>
                    </a:p>
                  </a:txBody>
                  <a:tcPr marL="114230" marR="87869" marT="87869" marB="87869"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4122563176"/>
                  </a:ext>
                </a:extLst>
              </a:tr>
              <a:tr h="620941">
                <a:tc>
                  <a:txBody>
                    <a:bodyPr/>
                    <a:lstStyle/>
                    <a:p>
                      <a:pPr>
                        <a:buNone/>
                      </a:pPr>
                      <a:r>
                        <a:rPr lang="en-US" sz="1300" cap="none" spc="0">
                          <a:solidFill>
                            <a:schemeClr val="tx1"/>
                          </a:solidFill>
                        </a:rPr>
                        <a:t>Infirmier(ère)</a:t>
                      </a:r>
                    </a:p>
                  </a:txBody>
                  <a:tcPr marL="114230" marR="87869" marT="87869" marB="87869"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rPr>
                        <a:t>GRP_NURSES, GRP_PATIENT_PORTAL</a:t>
                      </a:r>
                    </a:p>
                  </a:txBody>
                  <a:tcPr marL="114230" marR="87869" marT="87869" marB="87869"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626155050"/>
                  </a:ext>
                </a:extLst>
              </a:tr>
              <a:tr h="620941">
                <a:tc>
                  <a:txBody>
                    <a:bodyPr/>
                    <a:lstStyle/>
                    <a:p>
                      <a:pPr>
                        <a:buNone/>
                      </a:pPr>
                      <a:r>
                        <a:rPr lang="en-US" sz="1300" cap="none" spc="0">
                          <a:solidFill>
                            <a:schemeClr val="tx1"/>
                          </a:solidFill>
                        </a:rPr>
                        <a:t>Chef infirmier</a:t>
                      </a:r>
                    </a:p>
                  </a:txBody>
                  <a:tcPr marL="114230" marR="87869" marT="87869" marB="87869"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rPr>
                        <a:t>GRP_NURSES, GRP_NURSE_SUPERVISORS</a:t>
                      </a:r>
                    </a:p>
                  </a:txBody>
                  <a:tcPr marL="114230" marR="87869" marT="87869" marB="87869"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404220927"/>
                  </a:ext>
                </a:extLst>
              </a:tr>
              <a:tr h="620941">
                <a:tc>
                  <a:txBody>
                    <a:bodyPr/>
                    <a:lstStyle/>
                    <a:p>
                      <a:pPr>
                        <a:buNone/>
                      </a:pPr>
                      <a:r>
                        <a:rPr lang="en-US" sz="1300" cap="none" spc="0">
                          <a:solidFill>
                            <a:schemeClr val="tx1"/>
                          </a:solidFill>
                        </a:rPr>
                        <a:t>Analyste IAM</a:t>
                      </a:r>
                    </a:p>
                  </a:txBody>
                  <a:tcPr marL="114230" marR="87869" marT="87869" marB="87869"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rPr>
                        <a:t>GRP_IT_IAM, GRP_ADMIN_TOOLS</a:t>
                      </a:r>
                    </a:p>
                  </a:txBody>
                  <a:tcPr marL="114230" marR="87869" marT="87869" marB="87869"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063993586"/>
                  </a:ext>
                </a:extLst>
              </a:tr>
              <a:tr h="620941">
                <a:tc>
                  <a:txBody>
                    <a:bodyPr/>
                    <a:lstStyle/>
                    <a:p>
                      <a:pPr>
                        <a:buNone/>
                      </a:pPr>
                      <a:r>
                        <a:rPr lang="en-US" sz="1300" cap="none" spc="0">
                          <a:solidFill>
                            <a:schemeClr val="tx1"/>
                          </a:solidFill>
                        </a:rPr>
                        <a:t>Technicien de laboratoire</a:t>
                      </a:r>
                    </a:p>
                  </a:txBody>
                  <a:tcPr marL="114230" marR="87869" marT="87869" marB="87869"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rPr>
                        <a:t>GRP_LAB, GRP_LAB_SYSTEM</a:t>
                      </a:r>
                    </a:p>
                  </a:txBody>
                  <a:tcPr marL="114230" marR="87869" marT="87869" marB="87869"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116536684"/>
                  </a:ext>
                </a:extLst>
              </a:tr>
              <a:tr h="620941">
                <a:tc>
                  <a:txBody>
                    <a:bodyPr/>
                    <a:lstStyle/>
                    <a:p>
                      <a:pPr>
                        <a:buNone/>
                      </a:pPr>
                      <a:r>
                        <a:rPr lang="en-US" sz="1300" cap="none" spc="0">
                          <a:solidFill>
                            <a:schemeClr val="tx1"/>
                          </a:solidFill>
                        </a:rPr>
                        <a:t>Comptable</a:t>
                      </a:r>
                    </a:p>
                  </a:txBody>
                  <a:tcPr marL="114230" marR="87869" marT="87869" marB="87869"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rPr>
                        <a:t>GRP_FINANCE, GRP_FINANCE_SYSTEM</a:t>
                      </a:r>
                    </a:p>
                  </a:txBody>
                  <a:tcPr marL="114230" marR="87869" marT="87869" marB="87869"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796771452"/>
                  </a:ext>
                </a:extLst>
              </a:tr>
            </a:tbl>
          </a:graphicData>
        </a:graphic>
      </p:graphicFrame>
    </p:spTree>
    <p:extLst>
      <p:ext uri="{BB962C8B-B14F-4D97-AF65-F5344CB8AC3E}">
        <p14:creationId xmlns:p14="http://schemas.microsoft.com/office/powerpoint/2010/main" val="2543683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2A8C76-0BC3-33FA-C909-914D24E5CC34}"/>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reeform: Shape 4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Rectangle 4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21D162-DF61-7F3D-4F82-10EF44D6D4ED}"/>
              </a:ext>
            </a:extLst>
          </p:cNvPr>
          <p:cNvSpPr>
            <a:spLocks noGrp="1"/>
          </p:cNvSpPr>
          <p:nvPr>
            <p:ph type="ctrTitle"/>
          </p:nvPr>
        </p:nvSpPr>
        <p:spPr>
          <a:xfrm>
            <a:off x="466722" y="586855"/>
            <a:ext cx="3201366"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Contrôles de Gouvernance</a:t>
            </a:r>
          </a:p>
        </p:txBody>
      </p:sp>
      <p:sp>
        <p:nvSpPr>
          <p:cNvPr id="3" name="Subtitle 2">
            <a:extLst>
              <a:ext uri="{FF2B5EF4-FFF2-40B4-BE49-F238E27FC236}">
                <a16:creationId xmlns:a16="http://schemas.microsoft.com/office/drawing/2014/main" id="{524D62E4-A2F1-7B5B-1EEA-3C6BBF949F57}"/>
              </a:ext>
            </a:extLst>
          </p:cNvPr>
          <p:cNvSpPr>
            <a:spLocks noGrp="1"/>
          </p:cNvSpPr>
          <p:nvPr>
            <p:ph type="subTitle" idx="1"/>
          </p:nvPr>
        </p:nvSpPr>
        <p:spPr>
          <a:xfrm>
            <a:off x="4134811" y="649481"/>
            <a:ext cx="6154388" cy="5517640"/>
          </a:xfrm>
        </p:spPr>
        <p:txBody>
          <a:bodyPr vert="horz" lIns="91440" tIns="45720" rIns="91440" bIns="45720" rtlCol="0" anchor="ctr">
            <a:noAutofit/>
          </a:bodyPr>
          <a:lstStyle/>
          <a:p>
            <a:pPr indent="-228600" algn="l">
              <a:buFont typeface="Arial" panose="020B0604020202020204" pitchFamily="34" charset="0"/>
              <a:buChar char="•"/>
            </a:pPr>
            <a:r>
              <a:rPr lang="en-US" sz="1400" dirty="0"/>
              <a:t>Le </a:t>
            </a:r>
            <a:r>
              <a:rPr lang="en-US" sz="1400" dirty="0" err="1"/>
              <a:t>système</a:t>
            </a:r>
            <a:r>
              <a:rPr lang="en-US" sz="1400" dirty="0"/>
              <a:t> </a:t>
            </a:r>
            <a:r>
              <a:rPr lang="en-US" sz="1400" dirty="0" err="1"/>
              <a:t>valide</a:t>
            </a:r>
            <a:r>
              <a:rPr lang="en-US" sz="1400" dirty="0"/>
              <a:t> les données RH avant toute attribution </a:t>
            </a:r>
            <a:r>
              <a:rPr lang="en-US" sz="1400" dirty="0" err="1"/>
              <a:t>d'accès</a:t>
            </a:r>
            <a:r>
              <a:rPr lang="en-US" sz="1400" dirty="0"/>
              <a:t>.</a:t>
            </a:r>
          </a:p>
          <a:p>
            <a:pPr indent="-228600" algn="l">
              <a:buFont typeface="Arial" panose="020B0604020202020204" pitchFamily="34" charset="0"/>
              <a:buChar char="•"/>
            </a:pPr>
            <a:endParaRPr lang="en-US" sz="1400" dirty="0"/>
          </a:p>
          <a:p>
            <a:pPr indent="-228600" algn="l">
              <a:buFont typeface="Arial" panose="020B0604020202020204" pitchFamily="34" charset="0"/>
              <a:buChar char="•"/>
            </a:pPr>
            <a:r>
              <a:rPr lang="en-US" sz="1400" dirty="0" err="1"/>
              <a:t>Contrôles</a:t>
            </a:r>
            <a:r>
              <a:rPr lang="en-US" sz="1400" dirty="0"/>
              <a:t> </a:t>
            </a:r>
            <a:r>
              <a:rPr lang="en-US" sz="1400" dirty="0" err="1"/>
              <a:t>obligatoires</a:t>
            </a:r>
            <a:r>
              <a:rPr lang="en-US" sz="1400" dirty="0"/>
              <a:t> :</a:t>
            </a:r>
          </a:p>
          <a:p>
            <a:pPr indent="-228600" algn="l">
              <a:buFont typeface="Arial" panose="020B0604020202020204" pitchFamily="34" charset="0"/>
              <a:buChar char="•"/>
            </a:pPr>
            <a:endParaRPr lang="en-US" sz="1400" dirty="0"/>
          </a:p>
          <a:p>
            <a:pPr indent="-228600" algn="l">
              <a:buFont typeface="Arial" panose="020B0604020202020204" pitchFamily="34" charset="0"/>
              <a:buChar char="•"/>
            </a:pPr>
            <a:r>
              <a:rPr lang="en-US" sz="1400" dirty="0"/>
              <a:t>✓ </a:t>
            </a:r>
            <a:r>
              <a:rPr lang="en-US" sz="1400" dirty="0" err="1"/>
              <a:t>Gestionnaire</a:t>
            </a:r>
            <a:endParaRPr lang="en-US" sz="1400" dirty="0"/>
          </a:p>
          <a:p>
            <a:pPr indent="-228600" algn="l">
              <a:buFont typeface="Arial" panose="020B0604020202020204" pitchFamily="34" charset="0"/>
              <a:buChar char="•"/>
            </a:pPr>
            <a:r>
              <a:rPr lang="en-US" sz="1400" dirty="0"/>
              <a:t>✓ Département</a:t>
            </a:r>
          </a:p>
          <a:p>
            <a:pPr indent="-228600" algn="l">
              <a:buFont typeface="Arial" panose="020B0604020202020204" pitchFamily="34" charset="0"/>
              <a:buChar char="•"/>
            </a:pPr>
            <a:r>
              <a:rPr lang="en-US" sz="1400" dirty="0"/>
              <a:t>✓ </a:t>
            </a:r>
            <a:r>
              <a:rPr lang="en-US" sz="1400" dirty="0" err="1"/>
              <a:t>Titre</a:t>
            </a:r>
            <a:r>
              <a:rPr lang="en-US" sz="1400" dirty="0"/>
              <a:t> du poste</a:t>
            </a:r>
          </a:p>
          <a:p>
            <a:pPr indent="-228600" algn="l">
              <a:buFont typeface="Arial" panose="020B0604020202020204" pitchFamily="34" charset="0"/>
              <a:buChar char="•"/>
            </a:pPr>
            <a:r>
              <a:rPr lang="en-US" sz="1400" dirty="0"/>
              <a:t>✓ Date de début</a:t>
            </a:r>
          </a:p>
          <a:p>
            <a:pPr indent="-228600" algn="l">
              <a:buFont typeface="Arial" panose="020B0604020202020204" pitchFamily="34" charset="0"/>
              <a:buChar char="•"/>
            </a:pPr>
            <a:r>
              <a:rPr lang="en-US" sz="1400" dirty="0"/>
              <a:t>✓ </a:t>
            </a:r>
            <a:r>
              <a:rPr lang="en-US" sz="1400" dirty="0" err="1"/>
              <a:t>Correspondance</a:t>
            </a:r>
            <a:r>
              <a:rPr lang="en-US" sz="1400" dirty="0"/>
              <a:t> RBAC</a:t>
            </a:r>
            <a:br>
              <a:rPr lang="en-US" sz="1400" dirty="0"/>
            </a:br>
            <a:br>
              <a:rPr lang="en-US" sz="1400" dirty="0"/>
            </a:br>
            <a:r>
              <a:rPr lang="en-US" sz="1400" dirty="0" err="1"/>
              <a:t>Exemples</a:t>
            </a:r>
            <a:r>
              <a:rPr lang="en-US" sz="1400" dirty="0"/>
              <a:t> de </a:t>
            </a:r>
            <a:r>
              <a:rPr lang="en-US" sz="1400" dirty="0" err="1"/>
              <a:t>demandes</a:t>
            </a:r>
            <a:r>
              <a:rPr lang="en-US" sz="1400" dirty="0"/>
              <a:t> </a:t>
            </a:r>
            <a:r>
              <a:rPr lang="en-US" sz="1400" dirty="0" err="1"/>
              <a:t>bloquées</a:t>
            </a:r>
            <a:r>
              <a:rPr lang="en-US" sz="1400" dirty="0"/>
              <a:t> :</a:t>
            </a:r>
            <a:br>
              <a:rPr lang="en-US" sz="1400" dirty="0"/>
            </a:br>
            <a:r>
              <a:rPr lang="en-US" sz="1400" dirty="0"/>
              <a:t>• </a:t>
            </a:r>
            <a:r>
              <a:rPr lang="en-US" sz="1400" dirty="0" err="1"/>
              <a:t>Gestionnaire</a:t>
            </a:r>
            <a:r>
              <a:rPr lang="en-US" sz="1400" dirty="0"/>
              <a:t> </a:t>
            </a:r>
            <a:r>
              <a:rPr lang="en-US" sz="1400" dirty="0" err="1"/>
              <a:t>manquant</a:t>
            </a:r>
            <a:endParaRPr lang="en-US" sz="1400" dirty="0"/>
          </a:p>
          <a:p>
            <a:pPr indent="-228600" algn="l">
              <a:buFont typeface="Arial" panose="020B0604020202020204" pitchFamily="34" charset="0"/>
              <a:buChar char="•"/>
            </a:pPr>
            <a:r>
              <a:rPr lang="en-US" sz="1400" dirty="0"/>
              <a:t>• Département </a:t>
            </a:r>
            <a:r>
              <a:rPr lang="en-US" sz="1400" dirty="0" err="1"/>
              <a:t>manquant</a:t>
            </a:r>
            <a:endParaRPr lang="en-US" sz="1400" dirty="0"/>
          </a:p>
          <a:p>
            <a:pPr indent="-228600" algn="l">
              <a:buFont typeface="Arial" panose="020B0604020202020204" pitchFamily="34" charset="0"/>
              <a:buChar char="•"/>
            </a:pPr>
            <a:r>
              <a:rPr lang="en-US" sz="1400" dirty="0"/>
              <a:t>• Nom </a:t>
            </a:r>
            <a:r>
              <a:rPr lang="en-US" sz="1400" dirty="0" err="1"/>
              <a:t>manquant</a:t>
            </a:r>
            <a:endParaRPr lang="en-US" sz="1400" dirty="0"/>
          </a:p>
          <a:p>
            <a:pPr indent="-228600" algn="l">
              <a:buFont typeface="Arial" panose="020B0604020202020204" pitchFamily="34" charset="0"/>
              <a:buChar char="•"/>
            </a:pPr>
            <a:r>
              <a:rPr lang="en-US" sz="1400" dirty="0"/>
              <a:t>• </a:t>
            </a:r>
            <a:r>
              <a:rPr lang="en-US" sz="1400" dirty="0" err="1"/>
              <a:t>Rôle</a:t>
            </a:r>
            <a:r>
              <a:rPr lang="en-US" sz="1400" dirty="0"/>
              <a:t> non </a:t>
            </a:r>
            <a:r>
              <a:rPr lang="en-US" sz="1400" dirty="0" err="1"/>
              <a:t>défini</a:t>
            </a:r>
            <a:r>
              <a:rPr lang="en-US" sz="1400" dirty="0"/>
              <a:t> dans le RBAC</a:t>
            </a:r>
            <a:br>
              <a:rPr lang="en-US" sz="1400" dirty="0"/>
            </a:br>
            <a:br>
              <a:rPr lang="en-US" sz="1400" dirty="0"/>
            </a:br>
            <a:r>
              <a:rPr lang="en-US" sz="1400" dirty="0"/>
              <a:t>Message :</a:t>
            </a:r>
            <a:br>
              <a:rPr lang="en-US" sz="1400" dirty="0"/>
            </a:br>
            <a:r>
              <a:rPr lang="en-US" sz="1400" dirty="0" err="1"/>
              <a:t>Aucun</a:t>
            </a:r>
            <a:r>
              <a:rPr lang="en-US" sz="1400" dirty="0"/>
              <a:t> </a:t>
            </a:r>
            <a:r>
              <a:rPr lang="en-US" sz="1400" dirty="0" err="1"/>
              <a:t>accès</a:t>
            </a:r>
            <a:r>
              <a:rPr lang="en-US" sz="1400" dirty="0"/>
              <a:t> </a:t>
            </a:r>
            <a:r>
              <a:rPr lang="en-US" sz="1400" dirty="0" err="1"/>
              <a:t>n'est</a:t>
            </a:r>
            <a:r>
              <a:rPr lang="en-US" sz="1400" dirty="0"/>
              <a:t> </a:t>
            </a:r>
            <a:r>
              <a:rPr lang="en-US" sz="1400" dirty="0" err="1"/>
              <a:t>accordé</a:t>
            </a:r>
            <a:r>
              <a:rPr lang="en-US" sz="1400" dirty="0"/>
              <a:t> tant </a:t>
            </a:r>
            <a:r>
              <a:rPr lang="en-US" sz="1400" dirty="0" err="1"/>
              <a:t>que</a:t>
            </a:r>
            <a:r>
              <a:rPr lang="en-US" sz="1400" dirty="0"/>
              <a:t> les données </a:t>
            </a:r>
            <a:r>
              <a:rPr lang="en-US" sz="1400" dirty="0" err="1"/>
              <a:t>requises</a:t>
            </a:r>
            <a:r>
              <a:rPr lang="en-US" sz="1400" dirty="0"/>
              <a:t> ne </a:t>
            </a:r>
            <a:r>
              <a:rPr lang="en-US" sz="1400" dirty="0" err="1"/>
              <a:t>sont</a:t>
            </a:r>
            <a:r>
              <a:rPr lang="en-US" sz="1400" dirty="0"/>
              <a:t> pas </a:t>
            </a:r>
            <a:r>
              <a:rPr lang="en-US" sz="1400" dirty="0" err="1"/>
              <a:t>conformes</a:t>
            </a:r>
            <a:r>
              <a:rPr lang="en-US" sz="1400" dirty="0"/>
              <a:t>.</a:t>
            </a:r>
            <a:br>
              <a:rPr lang="en-US" sz="1400" dirty="0"/>
            </a:br>
            <a:r>
              <a:rPr lang="en-US" sz="1400" dirty="0" err="1"/>
              <a:t>Aucun</a:t>
            </a:r>
            <a:r>
              <a:rPr lang="en-US" sz="1400" dirty="0"/>
              <a:t> compte </a:t>
            </a:r>
            <a:r>
              <a:rPr lang="en-US" sz="1400" dirty="0" err="1"/>
              <a:t>n'est</a:t>
            </a:r>
            <a:r>
              <a:rPr lang="en-US" sz="1400" dirty="0"/>
              <a:t> </a:t>
            </a:r>
            <a:r>
              <a:rPr lang="en-US" sz="1400" dirty="0" err="1"/>
              <a:t>créé</a:t>
            </a:r>
            <a:r>
              <a:rPr lang="en-US" sz="1400" dirty="0"/>
              <a:t> </a:t>
            </a:r>
            <a:r>
              <a:rPr lang="en-US" sz="1400" dirty="0" err="1"/>
              <a:t>si</a:t>
            </a:r>
            <a:r>
              <a:rPr lang="en-US" sz="1400" dirty="0"/>
              <a:t> les validations </a:t>
            </a:r>
            <a:r>
              <a:rPr lang="en-US" sz="1400" dirty="0" err="1"/>
              <a:t>échouent</a:t>
            </a:r>
            <a:r>
              <a:rPr lang="en-US" sz="1400" dirty="0"/>
              <a:t>.</a:t>
            </a:r>
          </a:p>
        </p:txBody>
      </p:sp>
      <p:pic>
        <p:nvPicPr>
          <p:cNvPr id="5" name="Picture 4">
            <a:extLst>
              <a:ext uri="{FF2B5EF4-FFF2-40B4-BE49-F238E27FC236}">
                <a16:creationId xmlns:a16="http://schemas.microsoft.com/office/drawing/2014/main" id="{ECBDD05C-DA03-4903-3532-A199CAD818C1}"/>
              </a:ext>
            </a:extLst>
          </p:cNvPr>
          <p:cNvPicPr>
            <a:picLocks noChangeAspect="1"/>
          </p:cNvPicPr>
          <p:nvPr/>
        </p:nvPicPr>
        <p:blipFill>
          <a:blip r:embed="rId3"/>
          <a:stretch>
            <a:fillRect/>
          </a:stretch>
        </p:blipFill>
        <p:spPr>
          <a:xfrm>
            <a:off x="10426060" y="535096"/>
            <a:ext cx="1485040" cy="5348026"/>
          </a:xfrm>
          <a:prstGeom prst="rect">
            <a:avLst/>
          </a:prstGeom>
        </p:spPr>
      </p:pic>
    </p:spTree>
    <p:extLst>
      <p:ext uri="{BB962C8B-B14F-4D97-AF65-F5344CB8AC3E}">
        <p14:creationId xmlns:p14="http://schemas.microsoft.com/office/powerpoint/2010/main" val="108852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2D202B-1C22-A0B1-9754-1A5AB01B089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70150A-238B-C692-4481-DEC8783FD172}"/>
              </a:ext>
            </a:extLst>
          </p:cNvPr>
          <p:cNvSpPr>
            <a:spLocks noGrp="1"/>
          </p:cNvSpPr>
          <p:nvPr>
            <p:ph type="ctrTitle"/>
          </p:nvPr>
        </p:nvSpPr>
        <p:spPr>
          <a:xfrm>
            <a:off x="699713" y="248038"/>
            <a:ext cx="7063721" cy="1159200"/>
          </a:xfrm>
        </p:spPr>
        <p:txBody>
          <a:bodyPr anchor="ctr">
            <a:normAutofit/>
          </a:bodyPr>
          <a:lstStyle/>
          <a:p>
            <a:pPr algn="l"/>
            <a:r>
              <a:rPr lang="en-US" sz="4000">
                <a:solidFill>
                  <a:srgbClr val="FFFFFF"/>
                </a:solidFill>
              </a:rPr>
              <a:t>Audit &amp; Reporting</a:t>
            </a:r>
          </a:p>
        </p:txBody>
      </p:sp>
      <p:sp>
        <p:nvSpPr>
          <p:cNvPr id="3" name="Subtitle 2">
            <a:extLst>
              <a:ext uri="{FF2B5EF4-FFF2-40B4-BE49-F238E27FC236}">
                <a16:creationId xmlns:a16="http://schemas.microsoft.com/office/drawing/2014/main" id="{E972BEAB-375A-9DD8-C438-9E6B305DDDB8}"/>
              </a:ext>
            </a:extLst>
          </p:cNvPr>
          <p:cNvSpPr>
            <a:spLocks noGrp="1"/>
          </p:cNvSpPr>
          <p:nvPr>
            <p:ph type="subTitle" idx="1"/>
          </p:nvPr>
        </p:nvSpPr>
        <p:spPr>
          <a:xfrm>
            <a:off x="8572499" y="390832"/>
            <a:ext cx="3233585" cy="873612"/>
          </a:xfrm>
        </p:spPr>
        <p:txBody>
          <a:bodyPr anchor="ctr">
            <a:normAutofit/>
          </a:bodyPr>
          <a:lstStyle/>
          <a:p>
            <a:pPr algn="l"/>
            <a:endParaRPr lang="en-US" sz="2000" dirty="0">
              <a:solidFill>
                <a:srgbClr val="FFFFFF"/>
              </a:solidFill>
            </a:endParaRPr>
          </a:p>
        </p:txBody>
      </p:sp>
      <p:pic>
        <p:nvPicPr>
          <p:cNvPr id="5" name="Picture 4">
            <a:extLst>
              <a:ext uri="{FF2B5EF4-FFF2-40B4-BE49-F238E27FC236}">
                <a16:creationId xmlns:a16="http://schemas.microsoft.com/office/drawing/2014/main" id="{971B3BF0-195A-30E3-FD0F-E3C41C77E94D}"/>
              </a:ext>
            </a:extLst>
          </p:cNvPr>
          <p:cNvPicPr>
            <a:picLocks noChangeAspect="1"/>
          </p:cNvPicPr>
          <p:nvPr/>
        </p:nvPicPr>
        <p:blipFill>
          <a:blip r:embed="rId3"/>
          <a:stretch>
            <a:fillRect/>
          </a:stretch>
        </p:blipFill>
        <p:spPr>
          <a:xfrm>
            <a:off x="619432" y="1655276"/>
            <a:ext cx="11186652" cy="4954686"/>
          </a:xfrm>
          <a:prstGeom prst="rect">
            <a:avLst/>
          </a:prstGeom>
        </p:spPr>
      </p:pic>
    </p:spTree>
    <p:extLst>
      <p:ext uri="{BB962C8B-B14F-4D97-AF65-F5344CB8AC3E}">
        <p14:creationId xmlns:p14="http://schemas.microsoft.com/office/powerpoint/2010/main" val="1833256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AFC15D-D345-FFDC-EAA0-56FDEEFF7A8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3180E48-298B-5FBC-6F0A-8D349AFAA1AF}"/>
              </a:ext>
            </a:extLst>
          </p:cNvPr>
          <p:cNvSpPr>
            <a:spLocks noGrp="1"/>
          </p:cNvSpPr>
          <p:nvPr>
            <p:ph type="ctrTitle"/>
          </p:nvPr>
        </p:nvSpPr>
        <p:spPr>
          <a:xfrm>
            <a:off x="660041" y="2767106"/>
            <a:ext cx="2880828" cy="3071906"/>
          </a:xfrm>
        </p:spPr>
        <p:txBody>
          <a:bodyPr anchor="t">
            <a:normAutofit/>
          </a:bodyPr>
          <a:lstStyle/>
          <a:p>
            <a:pPr algn="l"/>
            <a:r>
              <a:rPr lang="en-US" sz="4000">
                <a:solidFill>
                  <a:srgbClr val="FFFFFF"/>
                </a:solidFill>
              </a:rPr>
              <a:t>Future Enterprise Architecture</a:t>
            </a:r>
          </a:p>
        </p:txBody>
      </p:sp>
      <p:sp>
        <p:nvSpPr>
          <p:cNvPr id="3" name="Subtitle 2">
            <a:extLst>
              <a:ext uri="{FF2B5EF4-FFF2-40B4-BE49-F238E27FC236}">
                <a16:creationId xmlns:a16="http://schemas.microsoft.com/office/drawing/2014/main" id="{C92A73DF-3A8E-9DA8-ED34-0A06348B9DC3}"/>
              </a:ext>
            </a:extLst>
          </p:cNvPr>
          <p:cNvSpPr>
            <a:spLocks noGrp="1"/>
          </p:cNvSpPr>
          <p:nvPr>
            <p:ph type="subTitle" idx="1"/>
          </p:nvPr>
        </p:nvSpPr>
        <p:spPr>
          <a:xfrm>
            <a:off x="640586" y="4562169"/>
            <a:ext cx="2919738" cy="2074606"/>
          </a:xfrm>
        </p:spPr>
        <p:txBody>
          <a:bodyPr anchor="b">
            <a:normAutofit fontScale="77500" lnSpcReduction="20000"/>
          </a:bodyPr>
          <a:lstStyle/>
          <a:p>
            <a:pPr algn="l"/>
            <a:r>
              <a:rPr lang="fr-FR" sz="2000" dirty="0">
                <a:solidFill>
                  <a:srgbClr val="FFFFFF"/>
                </a:solidFill>
              </a:rPr>
              <a:t>Prochaine phase du projet :</a:t>
            </a:r>
          </a:p>
          <a:p>
            <a:pPr algn="l"/>
            <a:endParaRPr lang="fr-FR" sz="2000" dirty="0">
              <a:solidFill>
                <a:srgbClr val="FFFFFF"/>
              </a:solidFill>
            </a:endParaRPr>
          </a:p>
          <a:p>
            <a:pPr algn="l"/>
            <a:r>
              <a:rPr lang="fr-FR" sz="2000" dirty="0">
                <a:solidFill>
                  <a:srgbClr val="FFFFFF"/>
                </a:solidFill>
              </a:rPr>
              <a:t>• Windows Server 2022</a:t>
            </a:r>
          </a:p>
          <a:p>
            <a:pPr algn="l"/>
            <a:r>
              <a:rPr lang="fr-FR" sz="2000" dirty="0">
                <a:solidFill>
                  <a:srgbClr val="FFFFFF"/>
                </a:solidFill>
              </a:rPr>
              <a:t>• Active Directory</a:t>
            </a:r>
          </a:p>
          <a:p>
            <a:pPr algn="l"/>
            <a:r>
              <a:rPr lang="fr-FR" sz="2000" dirty="0">
                <a:solidFill>
                  <a:srgbClr val="FFFFFF"/>
                </a:solidFill>
              </a:rPr>
              <a:t>• Microsoft Entra ID</a:t>
            </a:r>
          </a:p>
          <a:p>
            <a:pPr algn="l"/>
            <a:r>
              <a:rPr lang="fr-FR" sz="2000" dirty="0">
                <a:solidFill>
                  <a:srgbClr val="FFFFFF"/>
                </a:solidFill>
              </a:rPr>
              <a:t>• Microsoft 365</a:t>
            </a:r>
          </a:p>
          <a:p>
            <a:pPr algn="l"/>
            <a:r>
              <a:rPr lang="fr-FR" sz="2000" dirty="0">
                <a:solidFill>
                  <a:srgbClr val="FFFFFF"/>
                </a:solidFill>
              </a:rPr>
              <a:t>• Intégration ITSM</a:t>
            </a:r>
            <a:endParaRPr lang="en-US" sz="2000" dirty="0">
              <a:solidFill>
                <a:srgbClr val="FFFFFF"/>
              </a:solidFill>
            </a:endParaRPr>
          </a:p>
        </p:txBody>
      </p:sp>
      <p:pic>
        <p:nvPicPr>
          <p:cNvPr id="5" name="Picture 4">
            <a:extLst>
              <a:ext uri="{FF2B5EF4-FFF2-40B4-BE49-F238E27FC236}">
                <a16:creationId xmlns:a16="http://schemas.microsoft.com/office/drawing/2014/main" id="{0EE988A8-A4EF-BD17-E474-5A07167C68E2}"/>
              </a:ext>
            </a:extLst>
          </p:cNvPr>
          <p:cNvPicPr>
            <a:picLocks noChangeAspect="1"/>
          </p:cNvPicPr>
          <p:nvPr/>
        </p:nvPicPr>
        <p:blipFill>
          <a:blip r:embed="rId3"/>
          <a:stretch>
            <a:fillRect/>
          </a:stretch>
        </p:blipFill>
        <p:spPr>
          <a:xfrm>
            <a:off x="4395110" y="263047"/>
            <a:ext cx="7492090" cy="6474986"/>
          </a:xfrm>
          <a:prstGeom prst="rect">
            <a:avLst/>
          </a:prstGeom>
        </p:spPr>
      </p:pic>
    </p:spTree>
    <p:extLst>
      <p:ext uri="{BB962C8B-B14F-4D97-AF65-F5344CB8AC3E}">
        <p14:creationId xmlns:p14="http://schemas.microsoft.com/office/powerpoint/2010/main" val="2648017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44C716-0872-D602-61DD-2F57C0C026A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58589AF-0722-EE99-BA73-8A93DB8E091D}"/>
              </a:ext>
            </a:extLst>
          </p:cNvPr>
          <p:cNvSpPr>
            <a:spLocks noGrp="1"/>
          </p:cNvSpPr>
          <p:nvPr>
            <p:ph type="ctrTitle"/>
          </p:nvPr>
        </p:nvSpPr>
        <p:spPr>
          <a:xfrm>
            <a:off x="660041" y="2767106"/>
            <a:ext cx="2880828" cy="3071906"/>
          </a:xfrm>
        </p:spPr>
        <p:txBody>
          <a:bodyPr anchor="t">
            <a:normAutofit/>
          </a:bodyPr>
          <a:lstStyle/>
          <a:p>
            <a:pPr algn="l"/>
            <a:r>
              <a:rPr lang="en-US" sz="4000">
                <a:solidFill>
                  <a:srgbClr val="FFFFFF"/>
                </a:solidFill>
              </a:rPr>
              <a:t>Feuille de Route</a:t>
            </a:r>
          </a:p>
        </p:txBody>
      </p:sp>
      <p:sp>
        <p:nvSpPr>
          <p:cNvPr id="3" name="Subtitle 2">
            <a:extLst>
              <a:ext uri="{FF2B5EF4-FFF2-40B4-BE49-F238E27FC236}">
                <a16:creationId xmlns:a16="http://schemas.microsoft.com/office/drawing/2014/main" id="{2A4C9189-F6D9-57E3-B740-3904A9DB6867}"/>
              </a:ext>
            </a:extLst>
          </p:cNvPr>
          <p:cNvSpPr>
            <a:spLocks noGrp="1"/>
          </p:cNvSpPr>
          <p:nvPr>
            <p:ph type="subTitle" idx="1"/>
          </p:nvPr>
        </p:nvSpPr>
        <p:spPr>
          <a:xfrm>
            <a:off x="255639" y="4060723"/>
            <a:ext cx="3490451" cy="2430567"/>
          </a:xfrm>
        </p:spPr>
        <p:txBody>
          <a:bodyPr anchor="b">
            <a:normAutofit/>
          </a:bodyPr>
          <a:lstStyle/>
          <a:p>
            <a:pPr algn="l"/>
            <a:r>
              <a:rPr lang="en-US" sz="2000" dirty="0">
                <a:solidFill>
                  <a:srgbClr val="FFFFFF"/>
                </a:solidFill>
              </a:rPr>
              <a:t>Phase 1  MVP Local          ✓</a:t>
            </a:r>
          </a:p>
          <a:p>
            <a:pPr algn="l"/>
            <a:r>
              <a:rPr lang="en-US" sz="2000" dirty="0">
                <a:solidFill>
                  <a:srgbClr val="FFFFFF"/>
                </a:solidFill>
              </a:rPr>
              <a:t>Phase 2  Active Directory</a:t>
            </a:r>
          </a:p>
          <a:p>
            <a:pPr algn="l"/>
            <a:r>
              <a:rPr lang="en-US" sz="2000" dirty="0">
                <a:solidFill>
                  <a:srgbClr val="FFFFFF"/>
                </a:solidFill>
              </a:rPr>
              <a:t>Phase 3  Entra ID</a:t>
            </a:r>
          </a:p>
          <a:p>
            <a:pPr algn="l"/>
            <a:r>
              <a:rPr lang="en-US" sz="2000" dirty="0">
                <a:solidFill>
                  <a:srgbClr val="FFFFFF"/>
                </a:solidFill>
              </a:rPr>
              <a:t>Phase 4  ITSM</a:t>
            </a:r>
          </a:p>
          <a:p>
            <a:pPr algn="l"/>
            <a:r>
              <a:rPr lang="en-US" sz="2000" dirty="0">
                <a:solidFill>
                  <a:srgbClr val="FFFFFF"/>
                </a:solidFill>
              </a:rPr>
              <a:t>Phase 5  IAM </a:t>
            </a:r>
            <a:r>
              <a:rPr lang="en-US" sz="2000" dirty="0" err="1">
                <a:solidFill>
                  <a:srgbClr val="FFFFFF"/>
                </a:solidFill>
              </a:rPr>
              <a:t>Entreprise</a:t>
            </a:r>
            <a:endParaRPr lang="en-US" sz="2000" dirty="0">
              <a:solidFill>
                <a:srgbClr val="FFFFFF"/>
              </a:solidFill>
            </a:endParaRPr>
          </a:p>
        </p:txBody>
      </p:sp>
      <p:pic>
        <p:nvPicPr>
          <p:cNvPr id="5" name="Picture 4">
            <a:extLst>
              <a:ext uri="{FF2B5EF4-FFF2-40B4-BE49-F238E27FC236}">
                <a16:creationId xmlns:a16="http://schemas.microsoft.com/office/drawing/2014/main" id="{EFDB99E8-90D3-AFEC-79EE-AB36438B7EF4}"/>
              </a:ext>
            </a:extLst>
          </p:cNvPr>
          <p:cNvPicPr>
            <a:picLocks noChangeAspect="1"/>
          </p:cNvPicPr>
          <p:nvPr/>
        </p:nvPicPr>
        <p:blipFill>
          <a:blip r:embed="rId3"/>
          <a:stretch>
            <a:fillRect/>
          </a:stretch>
        </p:blipFill>
        <p:spPr>
          <a:xfrm>
            <a:off x="5251939" y="467207"/>
            <a:ext cx="5008708" cy="6273561"/>
          </a:xfrm>
          <a:prstGeom prst="rect">
            <a:avLst/>
          </a:prstGeom>
        </p:spPr>
      </p:pic>
    </p:spTree>
    <p:extLst>
      <p:ext uri="{BB962C8B-B14F-4D97-AF65-F5344CB8AC3E}">
        <p14:creationId xmlns:p14="http://schemas.microsoft.com/office/powerpoint/2010/main" val="1776819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5E1F63-3608-174A-BF31-FAB881FB79B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3DF98EC-FDEF-43F5-21C4-1F4CD6591518}"/>
              </a:ext>
            </a:extLst>
          </p:cNvPr>
          <p:cNvSpPr>
            <a:spLocks noGrp="1"/>
          </p:cNvSpPr>
          <p:nvPr>
            <p:ph type="ctrTitle"/>
          </p:nvPr>
        </p:nvSpPr>
        <p:spPr>
          <a:xfrm>
            <a:off x="660041" y="2767106"/>
            <a:ext cx="2880828" cy="3071906"/>
          </a:xfrm>
        </p:spPr>
        <p:txBody>
          <a:bodyPr anchor="t">
            <a:normAutofit/>
          </a:bodyPr>
          <a:lstStyle/>
          <a:p>
            <a:pPr algn="l"/>
            <a:r>
              <a:rPr lang="en-US" sz="4000" dirty="0">
                <a:solidFill>
                  <a:schemeClr val="bg1"/>
                </a:solidFill>
              </a:rPr>
              <a:t>À </a:t>
            </a:r>
            <a:r>
              <a:rPr lang="en-US" sz="4000" dirty="0" err="1">
                <a:solidFill>
                  <a:schemeClr val="bg1"/>
                </a:solidFill>
              </a:rPr>
              <a:t>propos</a:t>
            </a:r>
            <a:r>
              <a:rPr lang="en-US" sz="4000" dirty="0">
                <a:solidFill>
                  <a:schemeClr val="bg1"/>
                </a:solidFill>
              </a:rPr>
              <a:t> de </a:t>
            </a:r>
            <a:r>
              <a:rPr lang="en-US" sz="4000" dirty="0" err="1">
                <a:solidFill>
                  <a:schemeClr val="bg1"/>
                </a:solidFill>
              </a:rPr>
              <a:t>l’auteur</a:t>
            </a:r>
            <a:endParaRPr lang="en-US" sz="4000" dirty="0">
              <a:solidFill>
                <a:schemeClr val="bg1"/>
              </a:solidFill>
            </a:endParaRPr>
          </a:p>
        </p:txBody>
      </p:sp>
      <p:sp>
        <p:nvSpPr>
          <p:cNvPr id="3" name="Subtitle 2">
            <a:extLst>
              <a:ext uri="{FF2B5EF4-FFF2-40B4-BE49-F238E27FC236}">
                <a16:creationId xmlns:a16="http://schemas.microsoft.com/office/drawing/2014/main" id="{2009ED5F-3706-9B13-6C0D-8910BDD27605}"/>
              </a:ext>
            </a:extLst>
          </p:cNvPr>
          <p:cNvSpPr>
            <a:spLocks noGrp="1"/>
          </p:cNvSpPr>
          <p:nvPr>
            <p:ph type="subTitle" idx="1"/>
          </p:nvPr>
        </p:nvSpPr>
        <p:spPr>
          <a:xfrm>
            <a:off x="660042" y="806824"/>
            <a:ext cx="2919738" cy="1494117"/>
          </a:xfrm>
        </p:spPr>
        <p:txBody>
          <a:bodyPr anchor="b">
            <a:normAutofit/>
          </a:bodyPr>
          <a:lstStyle/>
          <a:p>
            <a:pPr algn="l"/>
            <a:endParaRPr lang="en-US" sz="2000">
              <a:solidFill>
                <a:srgbClr val="FFFFFF"/>
              </a:solidFill>
            </a:endParaRPr>
          </a:p>
        </p:txBody>
      </p:sp>
      <p:pic>
        <p:nvPicPr>
          <p:cNvPr id="5" name="Picture 4">
            <a:extLst>
              <a:ext uri="{FF2B5EF4-FFF2-40B4-BE49-F238E27FC236}">
                <a16:creationId xmlns:a16="http://schemas.microsoft.com/office/drawing/2014/main" id="{2D3F6BE2-1DF4-DB8E-4A76-EFBFF0918722}"/>
              </a:ext>
            </a:extLst>
          </p:cNvPr>
          <p:cNvPicPr>
            <a:picLocks noChangeAspect="1"/>
          </p:cNvPicPr>
          <p:nvPr/>
        </p:nvPicPr>
        <p:blipFill>
          <a:blip r:embed="rId2"/>
          <a:stretch>
            <a:fillRect/>
          </a:stretch>
        </p:blipFill>
        <p:spPr>
          <a:xfrm>
            <a:off x="5568161" y="467208"/>
            <a:ext cx="5094281" cy="5923584"/>
          </a:xfrm>
          <a:prstGeom prst="rect">
            <a:avLst/>
          </a:prstGeom>
        </p:spPr>
      </p:pic>
    </p:spTree>
    <p:extLst>
      <p:ext uri="{BB962C8B-B14F-4D97-AF65-F5344CB8AC3E}">
        <p14:creationId xmlns:p14="http://schemas.microsoft.com/office/powerpoint/2010/main" val="12362110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2931</TotalTime>
  <Words>1715</Words>
  <Application>Microsoft Office PowerPoint</Application>
  <PresentationFormat>Widescreen</PresentationFormat>
  <Paragraphs>104</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Automatisation du Cycle de Vie des Identités (IAM)</vt:lpstr>
      <vt:lpstr>Défis Métier</vt:lpstr>
      <vt:lpstr>Vue d’Ensemble de la Solution</vt:lpstr>
      <vt:lpstr>Local MVP Architecture</vt:lpstr>
      <vt:lpstr>Joiner Workflow  : Arrivées des employés</vt:lpstr>
      <vt:lpstr>Mover Workflow:  changement de poste ou mobilité interne</vt:lpstr>
      <vt:lpstr>Leaver Workflow  Départ des employés</vt:lpstr>
      <vt:lpstr>Contrôle d’Accès Basé sur les Rôles (RBAC)</vt:lpstr>
      <vt:lpstr>Contrôles de Gouvernance</vt:lpstr>
      <vt:lpstr>Audit &amp; Reporting</vt:lpstr>
      <vt:lpstr>Future Enterprise Architecture</vt:lpstr>
      <vt:lpstr>Feuille de Route</vt:lpstr>
      <vt:lpstr>À propos de l’auteur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 kgf</dc:creator>
  <cp:lastModifiedBy>Gervais Francis Kangaya</cp:lastModifiedBy>
  <cp:revision>21</cp:revision>
  <dcterms:created xsi:type="dcterms:W3CDTF">2026-06-05T22:42:36Z</dcterms:created>
  <dcterms:modified xsi:type="dcterms:W3CDTF">2026-06-16T21:30:51Z</dcterms:modified>
</cp:coreProperties>
</file>